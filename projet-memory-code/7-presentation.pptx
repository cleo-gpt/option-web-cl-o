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850956-c267-c5a7-ab65-93c6250ef446}">
          <p14:sldIdLst>
            <p14:sldId id="256"/>
            <p14:sldId id="257"/>
          </p14:sldIdLst>
        </p14:section>
        <p14:section name="Le jeu" id="{5a0151b5-39d1-912f-2ae9-a86753d050a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Le code" id="{0699ca6b-fa92-e1f1-eba2-c6828eac0de9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Ce que j'ai appris" id="{1cc5759a-4225-0bbe-7850-6d93eeaae003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présente mon grand projet : un jeu de Memory. D'abord le jeu, ensuite le code avec les mots du cours, puis ce que j'ai compris.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cours demande trois décisions avant d'ouvrir l'éditeur : qui ouvre la page, quelle classe, quelle règle. Voici mes réponses.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menu enregistre les choix. Quand on valide, la partie est créée avec ces réglages.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on refuse de lire les règles, le livre dit « Dans ce cas, bonne chance » et la partie démarre.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but : rester en vie jusqu'à la fin de la partie.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Ici, 3 joueurs. C'est au joueur 1 (bleu) de jouer.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robot est un joueur comme les autres : c'est aussi un objet Joueur.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thème a ses propres images (28 par thème) et ses couleurs, définies dans le CSS.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partie se termine quand toutes les paires sont trouvées, ou quand plus personne n'a de coeur.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support de cours compare trois scènes : fromagerie, salle, planètes. Mon Memory suit la même idée : une Carte sait si elle forme une paire.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moule dit quelles données existent et quelles questions on peut poser à une carte.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l'exercice de l'oral : j'ouvre une méthode et je dis ce qu'elle décide, sans lire le fichier.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 dans l'atelier : d'abord un seul objet, puis une liste d'objets, et la page pose la même question à chacun.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chiffre devant chaque nom de fichier sert juste à les ranger dans l'explorateur.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sont les phrases du type « Comment on juge » du support de cours, appliquées à mon jeu.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lexique m'a servi à pouvoir réexpliquer chaque mot que j'utilise.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la pause, il fallait arrêter deux minuteurs en même temps, puis les relancer là où ils s'étaient arrêtés.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peux faire une démonstration du jeu.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5303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8229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Memory Multijoueur · HTML, CSS, JavaScript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Memory Multijoueur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Grand projet du Sas POO : un jeu de paires en HTML, CSS et JavaScript</a:t>
            </a:r>
            <a:endParaRPr lang="en-US" sz="1800" dirty="0"/>
          </a:p>
        </p:txBody>
      </p:sp>
      <p:sp>
        <p:nvSpPr>
          <p:cNvPr id="4" name="cadre-1"/>
          <p:cNvSpPr/>
          <p:nvPr/>
        </p:nvSpPr>
        <p:spPr>
          <a:xfrm>
            <a:off x="6245352" y="2176272"/>
            <a:ext cx="5477256" cy="2505456"/>
          </a:xfrm>
          <a:prstGeom prst="roundRect">
            <a:avLst>
              <a:gd name="adj" fmla="val 438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pture-2" descr="Plateau de jeu à 3 jou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40280"/>
            <a:ext cx="53492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Trois décisions avant le code</a:t>
            </a:r>
            <a:endParaRPr lang="en-US" sz="3600" dirty="0"/>
          </a:p>
        </p:txBody>
      </p:sp>
      <p:sp>
        <p:nvSpPr>
          <p:cNvPr id="3" name="cadre-3"/>
          <p:cNvSpPr/>
          <p:nvPr/>
        </p:nvSpPr>
        <p:spPr>
          <a:xfrm>
            <a:off x="548640" y="1463040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ond-4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65176" cy="265176"/>
          </a:xfrm>
          <a:prstGeom prst="rect">
            <a:avLst/>
          </a:prstGeom>
        </p:spPr>
      </p:pic>
      <p:sp>
        <p:nvSpPr>
          <p:cNvPr id="6" name="texte-6"/>
          <p:cNvSpPr txBox="1"/>
          <p:nvPr/>
        </p:nvSpPr>
        <p:spPr>
          <a:xfrm>
            <a:off x="1463040" y="17190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Qui ouvre la page ?</a:t>
            </a:r>
            <a:endParaRPr lang="en-US" sz="1800" dirty="0"/>
          </a:p>
        </p:txBody>
      </p:sp>
      <p:sp>
        <p:nvSpPr>
          <p:cNvPr id="7" name="texte-7"/>
          <p:cNvSpPr txBox="1"/>
          <p:nvPr/>
        </p:nvSpPr>
        <p:spPr>
          <a:xfrm>
            <a:off x="1463040" y="2121408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1 à 4 joueurs devant le même écran, ou un joueur contre l'ordinateur.</a:t>
            </a:r>
            <a:endParaRPr lang="en-US" sz="1500" dirty="0"/>
          </a:p>
        </p:txBody>
      </p:sp>
      <p:sp>
        <p:nvSpPr>
          <p:cNvPr id="8" name="cadre-8"/>
          <p:cNvSpPr/>
          <p:nvPr/>
        </p:nvSpPr>
        <p:spPr>
          <a:xfrm>
            <a:off x="548640" y="3035808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rond-9"/>
          <p:cNvSpPr/>
          <p:nvPr/>
        </p:nvSpPr>
        <p:spPr>
          <a:xfrm>
            <a:off x="822960" y="331012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e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429000"/>
            <a:ext cx="265176" cy="265176"/>
          </a:xfrm>
          <a:prstGeom prst="rect">
            <a:avLst/>
          </a:prstGeom>
        </p:spPr>
      </p:pic>
      <p:sp>
        <p:nvSpPr>
          <p:cNvPr id="11" name="texte-11"/>
          <p:cNvSpPr txBox="1"/>
          <p:nvPr/>
        </p:nvSpPr>
        <p:spPr>
          <a:xfrm>
            <a:off x="1463040" y="3291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 classe</a:t>
            </a:r>
            <a:endParaRPr lang="en-US" sz="1800" dirty="0"/>
          </a:p>
        </p:txBody>
      </p:sp>
      <p:sp>
        <p:nvSpPr>
          <p:cNvPr id="12" name="texte-12"/>
          <p:cNvSpPr txBox="1"/>
          <p:nvPr/>
        </p:nvSpPr>
        <p:spPr>
          <a:xfrm>
            <a:off x="1463040" y="3694176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Carte : une carte du jeu, avec son symbole, retournée ou non, trouvée ou non.</a:t>
            </a:r>
            <a:endParaRPr lang="en-US" sz="1500" dirty="0"/>
          </a:p>
        </p:txBody>
      </p:sp>
      <p:sp>
        <p:nvSpPr>
          <p:cNvPr id="13" name="cadre-13"/>
          <p:cNvSpPr/>
          <p:nvPr/>
        </p:nvSpPr>
        <p:spPr>
          <a:xfrm>
            <a:off x="548640" y="4608576"/>
            <a:ext cx="56692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ond-14"/>
          <p:cNvSpPr/>
          <p:nvPr/>
        </p:nvSpPr>
        <p:spPr>
          <a:xfrm>
            <a:off x="822960" y="4882896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e-1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001768"/>
            <a:ext cx="265176" cy="265176"/>
          </a:xfrm>
          <a:prstGeom prst="rect">
            <a:avLst/>
          </a:prstGeom>
        </p:spPr>
      </p:pic>
      <p:sp>
        <p:nvSpPr>
          <p:cNvPr id="16" name="texte-16"/>
          <p:cNvSpPr txBox="1"/>
          <p:nvPr/>
        </p:nvSpPr>
        <p:spPr>
          <a:xfrm>
            <a:off x="1463040" y="48646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 règle</a:t>
            </a:r>
            <a:endParaRPr lang="en-US" sz="1800" dirty="0"/>
          </a:p>
        </p:txBody>
      </p:sp>
      <p:sp>
        <p:nvSpPr>
          <p:cNvPr id="17" name="texte-17"/>
          <p:cNvSpPr txBox="1"/>
          <p:nvPr/>
        </p:nvSpPr>
        <p:spPr>
          <a:xfrm>
            <a:off x="1463040" y="5266944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estUnePaireAvec(autre) retourne true quand les deux cartes ont le même symbole.</a:t>
            </a:r>
            <a:endParaRPr lang="en-US" sz="1500" dirty="0"/>
          </a:p>
        </p:txBody>
      </p:sp>
      <p:sp>
        <p:nvSpPr>
          <p:cNvPr id="18" name="cadre-18"/>
          <p:cNvSpPr/>
          <p:nvPr/>
        </p:nvSpPr>
        <p:spPr>
          <a:xfrm>
            <a:off x="7456640" y="1353312"/>
            <a:ext cx="3374720" cy="4837176"/>
          </a:xfrm>
          <a:prstGeom prst="roundRect">
            <a:avLst>
              <a:gd name="adj" fmla="val 325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apture-19" descr="Menu de configu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648" y="1417320"/>
            <a:ext cx="3246704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 jeu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Comment on joue, écran par écran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 menu : on choisit avant de jouer</a:t>
            </a:r>
            <a:endParaRPr lang="en-US" sz="3600" dirty="0"/>
          </a:p>
        </p:txBody>
      </p:sp>
      <p:sp>
        <p:nvSpPr>
          <p:cNvPr id="3" name="cadre-20"/>
          <p:cNvSpPr/>
          <p:nvPr/>
        </p:nvSpPr>
        <p:spPr>
          <a:xfrm>
            <a:off x="1147280" y="1353312"/>
            <a:ext cx="3374720" cy="4837176"/>
          </a:xfrm>
          <a:prstGeom prst="roundRect">
            <a:avLst>
              <a:gd name="adj" fmla="val 325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e-21" descr="Menu de configuration rempl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288" y="1417320"/>
            <a:ext cx="3246704" cy="4709160"/>
          </a:xfrm>
          <a:prstGeom prst="rect">
            <a:avLst/>
          </a:prstGeom>
        </p:spPr>
      </p:pic>
      <p:sp>
        <p:nvSpPr>
          <p:cNvPr id="5" name="numero-22"/>
          <p:cNvSpPr/>
          <p:nvPr/>
        </p:nvSpPr>
        <p:spPr>
          <a:xfrm>
            <a:off x="5760720" y="15544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e-23"/>
          <p:cNvSpPr txBox="1"/>
          <p:nvPr/>
        </p:nvSpPr>
        <p:spPr>
          <a:xfrm>
            <a:off x="576072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e-24"/>
          <p:cNvSpPr txBox="1"/>
          <p:nvPr/>
        </p:nvSpPr>
        <p:spPr>
          <a:xfrm>
            <a:off x="6355080" y="15361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thème</a:t>
            </a:r>
            <a:endParaRPr lang="en-US" sz="1700" dirty="0"/>
          </a:p>
        </p:txBody>
      </p:sp>
      <p:sp>
        <p:nvSpPr>
          <p:cNvPr id="8" name="texte-25"/>
          <p:cNvSpPr txBox="1"/>
          <p:nvPr/>
        </p:nvSpPr>
        <p:spPr>
          <a:xfrm>
            <a:off x="6355080" y="18836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5 univers d'images différents</a:t>
            </a:r>
            <a:endParaRPr lang="en-US" sz="1500" dirty="0"/>
          </a:p>
        </p:txBody>
      </p:sp>
      <p:sp>
        <p:nvSpPr>
          <p:cNvPr id="9" name="numero-26"/>
          <p:cNvSpPr/>
          <p:nvPr/>
        </p:nvSpPr>
        <p:spPr>
          <a:xfrm>
            <a:off x="5760720" y="24688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e-27"/>
          <p:cNvSpPr txBox="1"/>
          <p:nvPr/>
        </p:nvSpPr>
        <p:spPr>
          <a:xfrm>
            <a:off x="576072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e-28"/>
          <p:cNvSpPr txBox="1"/>
          <p:nvPr/>
        </p:nvSpPr>
        <p:spPr>
          <a:xfrm>
            <a:off x="6355080" y="24505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mode</a:t>
            </a:r>
            <a:endParaRPr lang="en-US" sz="1700" dirty="0"/>
          </a:p>
        </p:txBody>
      </p:sp>
      <p:sp>
        <p:nvSpPr>
          <p:cNvPr id="12" name="texte-29"/>
          <p:cNvSpPr txBox="1"/>
          <p:nvPr/>
        </p:nvSpPr>
        <p:spPr>
          <a:xfrm>
            <a:off x="6355080" y="27980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solo, contre l'ordinateur, ou à plusieurs (2 à 4)</a:t>
            </a:r>
            <a:endParaRPr lang="en-US" sz="1500" dirty="0"/>
          </a:p>
        </p:txBody>
      </p:sp>
      <p:sp>
        <p:nvSpPr>
          <p:cNvPr id="13" name="numero-30"/>
          <p:cNvSpPr/>
          <p:nvPr/>
        </p:nvSpPr>
        <p:spPr>
          <a:xfrm>
            <a:off x="5760720" y="33832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e-31"/>
          <p:cNvSpPr txBox="1"/>
          <p:nvPr/>
        </p:nvSpPr>
        <p:spPr>
          <a:xfrm>
            <a:off x="576072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e-32"/>
          <p:cNvSpPr txBox="1"/>
          <p:nvPr/>
        </p:nvSpPr>
        <p:spPr>
          <a:xfrm>
            <a:off x="6355080" y="33649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nombre de cartes</a:t>
            </a:r>
            <a:endParaRPr lang="en-US" sz="1700" dirty="0"/>
          </a:p>
        </p:txBody>
      </p:sp>
      <p:sp>
        <p:nvSpPr>
          <p:cNvPr id="16" name="texte-33"/>
          <p:cNvSpPr txBox="1"/>
          <p:nvPr/>
        </p:nvSpPr>
        <p:spPr>
          <a:xfrm>
            <a:off x="6355080" y="37124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de 12 à 56</a:t>
            </a:r>
            <a:endParaRPr lang="en-US" sz="1500" dirty="0"/>
          </a:p>
        </p:txBody>
      </p:sp>
      <p:sp>
        <p:nvSpPr>
          <p:cNvPr id="17" name="numero-34"/>
          <p:cNvSpPr/>
          <p:nvPr/>
        </p:nvSpPr>
        <p:spPr>
          <a:xfrm>
            <a:off x="5760720" y="42976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e-35"/>
          <p:cNvSpPr txBox="1"/>
          <p:nvPr/>
        </p:nvSpPr>
        <p:spPr>
          <a:xfrm>
            <a:off x="576072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e-36"/>
          <p:cNvSpPr txBox="1"/>
          <p:nvPr/>
        </p:nvSpPr>
        <p:spPr>
          <a:xfrm>
            <a:off x="6355080" y="42793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 mélange</a:t>
            </a:r>
            <a:endParaRPr lang="en-US" sz="1700" dirty="0"/>
          </a:p>
        </p:txBody>
      </p:sp>
      <p:sp>
        <p:nvSpPr>
          <p:cNvPr id="20" name="texte-37"/>
          <p:cNvSpPr txBox="1"/>
          <p:nvPr/>
        </p:nvSpPr>
        <p:spPr>
          <a:xfrm>
            <a:off x="6355080" y="46268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facile, moyen ou difficile</a:t>
            </a:r>
            <a:endParaRPr lang="en-US" sz="1500" dirty="0"/>
          </a:p>
        </p:txBody>
      </p:sp>
      <p:sp>
        <p:nvSpPr>
          <p:cNvPr id="21" name="numero-38"/>
          <p:cNvSpPr/>
          <p:nvPr/>
        </p:nvSpPr>
        <p:spPr>
          <a:xfrm>
            <a:off x="5760720" y="52120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e-39"/>
          <p:cNvSpPr txBox="1"/>
          <p:nvPr/>
        </p:nvSpPr>
        <p:spPr>
          <a:xfrm>
            <a:off x="576072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e-40"/>
          <p:cNvSpPr txBox="1"/>
          <p:nvPr/>
        </p:nvSpPr>
        <p:spPr>
          <a:xfrm>
            <a:off x="6355080" y="51937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Valider</a:t>
            </a:r>
            <a:endParaRPr lang="en-US" sz="1700" dirty="0"/>
          </a:p>
        </p:txBody>
      </p:sp>
      <p:sp>
        <p:nvSpPr>
          <p:cNvPr id="24" name="texte-41"/>
          <p:cNvSpPr txBox="1"/>
          <p:nvPr/>
        </p:nvSpPr>
        <p:spPr>
          <a:xfrm>
            <a:off x="6355080" y="55412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 bouton s'allume quand tout est choisi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 livre des règles</a:t>
            </a:r>
            <a:endParaRPr lang="en-US" sz="3600" dirty="0"/>
          </a:p>
        </p:txBody>
      </p:sp>
      <p:sp>
        <p:nvSpPr>
          <p:cNvPr id="3" name="cadre-42"/>
          <p:cNvSpPr/>
          <p:nvPr/>
        </p:nvSpPr>
        <p:spPr>
          <a:xfrm>
            <a:off x="484632" y="1406652"/>
            <a:ext cx="3511296" cy="2947416"/>
          </a:xfrm>
          <a:prstGeom prst="roundRect">
            <a:avLst>
              <a:gd name="adj" fmla="val 3723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e-43" descr="On clique sur le liv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0660"/>
            <a:ext cx="3383280" cy="2819400"/>
          </a:xfrm>
          <a:prstGeom prst="rect">
            <a:avLst/>
          </a:prstGeom>
        </p:spPr>
      </p:pic>
      <p:sp>
        <p:nvSpPr>
          <p:cNvPr id="5" name="numero-44"/>
          <p:cNvSpPr/>
          <p:nvPr/>
        </p:nvSpPr>
        <p:spPr>
          <a:xfrm>
            <a:off x="548640" y="45262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e-45"/>
          <p:cNvSpPr txBox="1"/>
          <p:nvPr/>
        </p:nvSpPr>
        <p:spPr>
          <a:xfrm>
            <a:off x="54864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e-46"/>
          <p:cNvSpPr txBox="1"/>
          <p:nvPr/>
        </p:nvSpPr>
        <p:spPr>
          <a:xfrm>
            <a:off x="1051560" y="45445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On clique sur le livre</a:t>
            </a:r>
            <a:endParaRPr lang="en-US" sz="1600" dirty="0"/>
          </a:p>
        </p:txBody>
      </p:sp>
      <p:sp>
        <p:nvSpPr>
          <p:cNvPr id="8" name="fleche-47"/>
          <p:cNvSpPr/>
          <p:nvPr/>
        </p:nvSpPr>
        <p:spPr>
          <a:xfrm>
            <a:off x="4041648" y="2880360"/>
            <a:ext cx="23774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cadre-48"/>
          <p:cNvSpPr/>
          <p:nvPr/>
        </p:nvSpPr>
        <p:spPr>
          <a:xfrm>
            <a:off x="4325112" y="1406652"/>
            <a:ext cx="3511296" cy="2947416"/>
          </a:xfrm>
          <a:prstGeom prst="roundRect">
            <a:avLst>
              <a:gd name="adj" fmla="val 3723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apture-49" descr="Lire les règles ou non ?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70660"/>
            <a:ext cx="3383280" cy="2819400"/>
          </a:xfrm>
          <a:prstGeom prst="rect">
            <a:avLst/>
          </a:prstGeom>
        </p:spPr>
      </p:pic>
      <p:sp>
        <p:nvSpPr>
          <p:cNvPr id="11" name="numero-50"/>
          <p:cNvSpPr/>
          <p:nvPr/>
        </p:nvSpPr>
        <p:spPr>
          <a:xfrm>
            <a:off x="4389120" y="45262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e-51"/>
          <p:cNvSpPr txBox="1"/>
          <p:nvPr/>
        </p:nvSpPr>
        <p:spPr>
          <a:xfrm>
            <a:off x="43891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e-52"/>
          <p:cNvSpPr txBox="1"/>
          <p:nvPr/>
        </p:nvSpPr>
        <p:spPr>
          <a:xfrm>
            <a:off x="4892040" y="45445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Lire les règles ou non ?</a:t>
            </a:r>
            <a:endParaRPr lang="en-US" sz="1600" dirty="0"/>
          </a:p>
        </p:txBody>
      </p:sp>
      <p:sp>
        <p:nvSpPr>
          <p:cNvPr id="14" name="fleche-53"/>
          <p:cNvSpPr/>
          <p:nvPr/>
        </p:nvSpPr>
        <p:spPr>
          <a:xfrm>
            <a:off x="7882128" y="2880360"/>
            <a:ext cx="237744" cy="914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cadre-54"/>
          <p:cNvSpPr/>
          <p:nvPr/>
        </p:nvSpPr>
        <p:spPr>
          <a:xfrm>
            <a:off x="8165592" y="1406652"/>
            <a:ext cx="3511296" cy="2947416"/>
          </a:xfrm>
          <a:prstGeom prst="roundRect">
            <a:avLst>
              <a:gd name="adj" fmla="val 3723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pture-55" descr="Les règles, puis on lan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470660"/>
            <a:ext cx="3383280" cy="2819400"/>
          </a:xfrm>
          <a:prstGeom prst="rect">
            <a:avLst/>
          </a:prstGeom>
        </p:spPr>
      </p:pic>
      <p:sp>
        <p:nvSpPr>
          <p:cNvPr id="17" name="numero-56"/>
          <p:cNvSpPr/>
          <p:nvPr/>
        </p:nvSpPr>
        <p:spPr>
          <a:xfrm>
            <a:off x="8229600" y="45262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e-57"/>
          <p:cNvSpPr txBox="1"/>
          <p:nvPr/>
        </p:nvSpPr>
        <p:spPr>
          <a:xfrm>
            <a:off x="82296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e-58"/>
          <p:cNvSpPr txBox="1"/>
          <p:nvPr/>
        </p:nvSpPr>
        <p:spPr>
          <a:xfrm>
            <a:off x="8732520" y="45445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Les règles, puis on lance</a:t>
            </a:r>
            <a:endParaRPr lang="en-US" sz="1600" dirty="0"/>
          </a:p>
        </p:txBody>
      </p:sp>
      <p:sp>
        <p:nvSpPr>
          <p:cNvPr id="20" name="cadre-59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1" name="texte-60"/>
          <p:cNvSpPr txBox="1"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Pendant la partie, le bouton 📖 rouvre le livre :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c'est la pause.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Les règles du jeu</a:t>
            </a:r>
            <a:endParaRPr lang="en-US" sz="3600" dirty="0"/>
          </a:p>
        </p:txBody>
      </p:sp>
      <p:sp>
        <p:nvSpPr>
          <p:cNvPr id="3" name="cadre-61"/>
          <p:cNvSpPr/>
          <p:nvPr/>
        </p:nvSpPr>
        <p:spPr>
          <a:xfrm>
            <a:off x="548640" y="146304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ond-62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e-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65176" cy="265176"/>
          </a:xfrm>
          <a:prstGeom prst="rect">
            <a:avLst/>
          </a:prstGeom>
        </p:spPr>
      </p:pic>
      <p:sp>
        <p:nvSpPr>
          <p:cNvPr id="6" name="texte-64"/>
          <p:cNvSpPr txBox="1"/>
          <p:nvPr/>
        </p:nvSpPr>
        <p:spPr>
          <a:xfrm>
            <a:off x="146304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10 coeurs</a:t>
            </a:r>
            <a:endParaRPr lang="en-US" sz="1800" dirty="0"/>
          </a:p>
        </p:txBody>
      </p:sp>
      <p:sp>
        <p:nvSpPr>
          <p:cNvPr id="7" name="texte-65"/>
          <p:cNvSpPr txBox="1"/>
          <p:nvPr/>
        </p:nvSpPr>
        <p:spPr>
          <a:xfrm>
            <a:off x="1463040" y="21214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Chaque joueur commence avec 10 coeurs.</a:t>
            </a:r>
            <a:endParaRPr lang="en-US" sz="1500" dirty="0"/>
          </a:p>
        </p:txBody>
      </p:sp>
      <p:sp>
        <p:nvSpPr>
          <p:cNvPr id="8" name="cadre-66"/>
          <p:cNvSpPr/>
          <p:nvPr/>
        </p:nvSpPr>
        <p:spPr>
          <a:xfrm>
            <a:off x="4343400" y="146304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rond-67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e-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56232"/>
            <a:ext cx="265176" cy="265176"/>
          </a:xfrm>
          <a:prstGeom prst="rect">
            <a:avLst/>
          </a:prstGeom>
        </p:spPr>
      </p:pic>
      <p:sp>
        <p:nvSpPr>
          <p:cNvPr id="11" name="texte-69"/>
          <p:cNvSpPr txBox="1"/>
          <p:nvPr/>
        </p:nvSpPr>
        <p:spPr>
          <a:xfrm>
            <a:off x="525780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Paire trouvée</a:t>
            </a:r>
            <a:endParaRPr lang="en-US" sz="1800" dirty="0"/>
          </a:p>
        </p:txBody>
      </p:sp>
      <p:sp>
        <p:nvSpPr>
          <p:cNvPr id="12" name="texte-70"/>
          <p:cNvSpPr txBox="1"/>
          <p:nvPr/>
        </p:nvSpPr>
        <p:spPr>
          <a:xfrm>
            <a:off x="5257800" y="21214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+1 coeur, et on rejoue.</a:t>
            </a:r>
            <a:endParaRPr lang="en-US" sz="1500" dirty="0"/>
          </a:p>
        </p:txBody>
      </p:sp>
      <p:sp>
        <p:nvSpPr>
          <p:cNvPr id="13" name="cadre-71"/>
          <p:cNvSpPr/>
          <p:nvPr/>
        </p:nvSpPr>
        <p:spPr>
          <a:xfrm>
            <a:off x="8138160" y="146304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ond-72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e-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56232"/>
            <a:ext cx="265176" cy="265176"/>
          </a:xfrm>
          <a:prstGeom prst="rect">
            <a:avLst/>
          </a:prstGeom>
        </p:spPr>
      </p:pic>
      <p:sp>
        <p:nvSpPr>
          <p:cNvPr id="16" name="texte-74"/>
          <p:cNvSpPr txBox="1"/>
          <p:nvPr/>
        </p:nvSpPr>
        <p:spPr>
          <a:xfrm>
            <a:off x="905256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Erreur</a:t>
            </a:r>
            <a:endParaRPr lang="en-US" sz="1800" dirty="0"/>
          </a:p>
        </p:txBody>
      </p:sp>
      <p:sp>
        <p:nvSpPr>
          <p:cNvPr id="17" name="texte-75"/>
          <p:cNvSpPr txBox="1"/>
          <p:nvPr/>
        </p:nvSpPr>
        <p:spPr>
          <a:xfrm>
            <a:off x="9052560" y="212140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−1 coeur, au joueur suivant.</a:t>
            </a:r>
            <a:endParaRPr lang="en-US" sz="1500" dirty="0"/>
          </a:p>
        </p:txBody>
      </p:sp>
      <p:sp>
        <p:nvSpPr>
          <p:cNvPr id="18" name="cadre-76"/>
          <p:cNvSpPr/>
          <p:nvPr/>
        </p:nvSpPr>
        <p:spPr>
          <a:xfrm>
            <a:off x="548640" y="333756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rond-77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e-7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730752"/>
            <a:ext cx="265176" cy="265176"/>
          </a:xfrm>
          <a:prstGeom prst="rect">
            <a:avLst/>
          </a:prstGeom>
        </p:spPr>
      </p:pic>
      <p:sp>
        <p:nvSpPr>
          <p:cNvPr id="21" name="texte-79"/>
          <p:cNvSpPr txBox="1"/>
          <p:nvPr/>
        </p:nvSpPr>
        <p:spPr>
          <a:xfrm>
            <a:off x="146304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0 coeur</a:t>
            </a:r>
            <a:endParaRPr lang="en-US" sz="1800" dirty="0"/>
          </a:p>
        </p:txBody>
      </p:sp>
      <p:sp>
        <p:nvSpPr>
          <p:cNvPr id="22" name="texte-80"/>
          <p:cNvSpPr txBox="1"/>
          <p:nvPr/>
        </p:nvSpPr>
        <p:spPr>
          <a:xfrm>
            <a:off x="1463040" y="39959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 joueur est éliminé.</a:t>
            </a:r>
            <a:endParaRPr lang="en-US" sz="1500" dirty="0"/>
          </a:p>
        </p:txBody>
      </p:sp>
      <p:sp>
        <p:nvSpPr>
          <p:cNvPr id="23" name="cadre-81"/>
          <p:cNvSpPr/>
          <p:nvPr/>
        </p:nvSpPr>
        <p:spPr>
          <a:xfrm>
            <a:off x="4343400" y="333756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rond-82"/>
          <p:cNvSpPr/>
          <p:nvPr/>
        </p:nvSpPr>
        <p:spPr>
          <a:xfrm>
            <a:off x="4617720" y="36118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cone-8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730752"/>
            <a:ext cx="265176" cy="265176"/>
          </a:xfrm>
          <a:prstGeom prst="rect">
            <a:avLst/>
          </a:prstGeom>
        </p:spPr>
      </p:pic>
      <p:sp>
        <p:nvSpPr>
          <p:cNvPr id="26" name="texte-84"/>
          <p:cNvSpPr txBox="1"/>
          <p:nvPr/>
        </p:nvSpPr>
        <p:spPr>
          <a:xfrm>
            <a:off x="525780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45 secondes</a:t>
            </a:r>
            <a:endParaRPr lang="en-US" sz="1800" dirty="0"/>
          </a:p>
        </p:txBody>
      </p:sp>
      <p:sp>
        <p:nvSpPr>
          <p:cNvPr id="27" name="texte-85"/>
          <p:cNvSpPr txBox="1"/>
          <p:nvPr/>
        </p:nvSpPr>
        <p:spPr>
          <a:xfrm>
            <a:off x="5257800" y="39959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Pour retourner 2 cartes.</a:t>
            </a:r>
            <a:endParaRPr lang="en-US" sz="1500" dirty="0"/>
          </a:p>
        </p:txBody>
      </p:sp>
      <p:sp>
        <p:nvSpPr>
          <p:cNvPr id="28" name="cadre-86"/>
          <p:cNvSpPr/>
          <p:nvPr/>
        </p:nvSpPr>
        <p:spPr>
          <a:xfrm>
            <a:off x="8138160" y="3337560"/>
            <a:ext cx="3474720" cy="164592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rond-87"/>
          <p:cNvSpPr/>
          <p:nvPr/>
        </p:nvSpPr>
        <p:spPr>
          <a:xfrm>
            <a:off x="8412480" y="3611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e-8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3730752"/>
            <a:ext cx="265176" cy="265176"/>
          </a:xfrm>
          <a:prstGeom prst="rect">
            <a:avLst/>
          </a:prstGeom>
        </p:spPr>
      </p:pic>
      <p:sp>
        <p:nvSpPr>
          <p:cNvPr id="31" name="texte-89"/>
          <p:cNvSpPr txBox="1"/>
          <p:nvPr/>
        </p:nvSpPr>
        <p:spPr>
          <a:xfrm>
            <a:off x="905256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Une lumière</a:t>
            </a:r>
            <a:endParaRPr lang="en-US" sz="1800" dirty="0"/>
          </a:p>
        </p:txBody>
      </p:sp>
      <p:sp>
        <p:nvSpPr>
          <p:cNvPr id="32" name="texte-90"/>
          <p:cNvSpPr txBox="1"/>
          <p:nvPr/>
        </p:nvSpPr>
        <p:spPr>
          <a:xfrm>
            <a:off x="9052560" y="399592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Elle montre à qui c'est le tour.</a:t>
            </a:r>
            <a:endParaRPr lang="en-US" sz="1500" dirty="0"/>
          </a:p>
        </p:txBody>
      </p:sp>
      <p:sp>
        <p:nvSpPr>
          <p:cNvPr id="33" name="texte-91"/>
          <p:cNvSpPr txBox="1"/>
          <p:nvPr/>
        </p:nvSpPr>
        <p:spPr>
          <a:xfrm>
            <a:off x="548640" y="5440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Couleurs</a:t>
            </a:r>
            <a:endParaRPr lang="en-US" sz="1500" dirty="0"/>
          </a:p>
        </p:txBody>
      </p:sp>
      <p:sp>
        <p:nvSpPr>
          <p:cNvPr id="34" name="lumiere-92"/>
          <p:cNvSpPr/>
          <p:nvPr/>
        </p:nvSpPr>
        <p:spPr>
          <a:xfrm>
            <a:off x="2103120" y="5522976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5" name="texte-93"/>
          <p:cNvSpPr txBox="1"/>
          <p:nvPr/>
        </p:nvSpPr>
        <p:spPr>
          <a:xfrm>
            <a:off x="237744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Joueur 1 · Bleu</a:t>
            </a:r>
            <a:endParaRPr lang="en-US" sz="1400" dirty="0"/>
          </a:p>
        </p:txBody>
      </p:sp>
      <p:sp>
        <p:nvSpPr>
          <p:cNvPr id="36" name="lumiere-94"/>
          <p:cNvSpPr/>
          <p:nvPr/>
        </p:nvSpPr>
        <p:spPr>
          <a:xfrm>
            <a:off x="4023360" y="5522976"/>
            <a:ext cx="201168" cy="2011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7" name="texte-95"/>
          <p:cNvSpPr txBox="1"/>
          <p:nvPr/>
        </p:nvSpPr>
        <p:spPr>
          <a:xfrm>
            <a:off x="429768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Joueur 2 · Vert</a:t>
            </a:r>
            <a:endParaRPr lang="en-US" sz="1400" dirty="0"/>
          </a:p>
        </p:txBody>
      </p:sp>
      <p:sp>
        <p:nvSpPr>
          <p:cNvPr id="38" name="lumiere-96"/>
          <p:cNvSpPr/>
          <p:nvPr/>
        </p:nvSpPr>
        <p:spPr>
          <a:xfrm>
            <a:off x="5943600" y="5522976"/>
            <a:ext cx="201168" cy="201168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39" name="texte-97"/>
          <p:cNvSpPr txBox="1"/>
          <p:nvPr/>
        </p:nvSpPr>
        <p:spPr>
          <a:xfrm>
            <a:off x="621792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Joueur 3 · Rose</a:t>
            </a:r>
            <a:endParaRPr lang="en-US" sz="1400" dirty="0"/>
          </a:p>
        </p:txBody>
      </p:sp>
      <p:sp>
        <p:nvSpPr>
          <p:cNvPr id="40" name="lumiere-98"/>
          <p:cNvSpPr/>
          <p:nvPr/>
        </p:nvSpPr>
        <p:spPr>
          <a:xfrm>
            <a:off x="7863840" y="5522976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41" name="texte-99"/>
          <p:cNvSpPr txBox="1"/>
          <p:nvPr/>
        </p:nvSpPr>
        <p:spPr>
          <a:xfrm>
            <a:off x="813816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Joueur 4 · Jaune</a:t>
            </a:r>
            <a:endParaRPr lang="en-US" sz="1400" dirty="0"/>
          </a:p>
        </p:txBody>
      </p:sp>
      <p:sp>
        <p:nvSpPr>
          <p:cNvPr id="42" name="lumiere-100"/>
          <p:cNvSpPr/>
          <p:nvPr/>
        </p:nvSpPr>
        <p:spPr>
          <a:xfrm>
            <a:off x="9784080" y="5522976"/>
            <a:ext cx="201168" cy="201168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43" name="texte-101"/>
          <p:cNvSpPr txBox="1"/>
          <p:nvPr/>
        </p:nvSpPr>
        <p:spPr>
          <a:xfrm>
            <a:off x="10058400" y="5440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Ordinateur · Argenté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Une partie en cours</a:t>
            </a:r>
            <a:endParaRPr lang="en-US" sz="3600" dirty="0"/>
          </a:p>
        </p:txBody>
      </p:sp>
      <p:sp>
        <p:nvSpPr>
          <p:cNvPr id="3" name="cadre-102"/>
          <p:cNvSpPr/>
          <p:nvPr/>
        </p:nvSpPr>
        <p:spPr>
          <a:xfrm>
            <a:off x="484632" y="1688592"/>
            <a:ext cx="8083296" cy="3663696"/>
          </a:xfrm>
          <a:prstGeom prst="roundRect">
            <a:avLst>
              <a:gd name="adj" fmla="val 2995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e-103" descr="Partie à 3 joueurs en co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2600"/>
            <a:ext cx="7955280" cy="3535680"/>
          </a:xfrm>
          <a:prstGeom prst="rect">
            <a:avLst/>
          </a:prstGeom>
        </p:spPr>
      </p:pic>
      <p:sp>
        <p:nvSpPr>
          <p:cNvPr id="5" name="numero-104"/>
          <p:cNvSpPr/>
          <p:nvPr/>
        </p:nvSpPr>
        <p:spPr>
          <a:xfrm>
            <a:off x="270205" y="2035454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e-105"/>
          <p:cNvSpPr txBox="1"/>
          <p:nvPr/>
        </p:nvSpPr>
        <p:spPr>
          <a:xfrm>
            <a:off x="270205" y="203545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numero-106"/>
          <p:cNvSpPr/>
          <p:nvPr/>
        </p:nvSpPr>
        <p:spPr>
          <a:xfrm>
            <a:off x="270205" y="2530450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8" name="texte-107"/>
          <p:cNvSpPr txBox="1"/>
          <p:nvPr/>
        </p:nvSpPr>
        <p:spPr>
          <a:xfrm>
            <a:off x="270205" y="253045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numero-108"/>
          <p:cNvSpPr/>
          <p:nvPr/>
        </p:nvSpPr>
        <p:spPr>
          <a:xfrm>
            <a:off x="2497684" y="1929384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e-109"/>
          <p:cNvSpPr txBox="1"/>
          <p:nvPr/>
        </p:nvSpPr>
        <p:spPr>
          <a:xfrm>
            <a:off x="2497684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numero-110"/>
          <p:cNvSpPr/>
          <p:nvPr/>
        </p:nvSpPr>
        <p:spPr>
          <a:xfrm>
            <a:off x="6395771" y="1929384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2" name="texte-111"/>
          <p:cNvSpPr txBox="1"/>
          <p:nvPr/>
        </p:nvSpPr>
        <p:spPr>
          <a:xfrm>
            <a:off x="6395771" y="1929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numero-112"/>
          <p:cNvSpPr/>
          <p:nvPr/>
        </p:nvSpPr>
        <p:spPr>
          <a:xfrm>
            <a:off x="8915400" y="1463040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e-113"/>
          <p:cNvSpPr txBox="1"/>
          <p:nvPr/>
        </p:nvSpPr>
        <p:spPr>
          <a:xfrm>
            <a:off x="89154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15" name="texte-114"/>
          <p:cNvSpPr txBox="1"/>
          <p:nvPr/>
        </p:nvSpPr>
        <p:spPr>
          <a:xfrm>
            <a:off x="9418320" y="14447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 temps</a:t>
            </a:r>
            <a:endParaRPr lang="en-US" sz="1600" dirty="0"/>
          </a:p>
        </p:txBody>
      </p:sp>
      <p:sp>
        <p:nvSpPr>
          <p:cNvPr id="16" name="texte-115"/>
          <p:cNvSpPr txBox="1"/>
          <p:nvPr/>
        </p:nvSpPr>
        <p:spPr>
          <a:xfrm>
            <a:off x="941832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Chrono de la partie et 45 s par tour.</a:t>
            </a:r>
            <a:endParaRPr lang="en-US" sz="1400" dirty="0"/>
          </a:p>
        </p:txBody>
      </p:sp>
      <p:sp>
        <p:nvSpPr>
          <p:cNvPr id="17" name="numero-116"/>
          <p:cNvSpPr/>
          <p:nvPr/>
        </p:nvSpPr>
        <p:spPr>
          <a:xfrm>
            <a:off x="8915400" y="2487168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e-117"/>
          <p:cNvSpPr txBox="1"/>
          <p:nvPr/>
        </p:nvSpPr>
        <p:spPr>
          <a:xfrm>
            <a:off x="8915400" y="2487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e-118"/>
          <p:cNvSpPr txBox="1"/>
          <p:nvPr/>
        </p:nvSpPr>
        <p:spPr>
          <a:xfrm>
            <a:off x="9418320" y="24688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joueurs</a:t>
            </a:r>
            <a:endParaRPr lang="en-US" sz="1600" dirty="0"/>
          </a:p>
        </p:txBody>
      </p:sp>
      <p:sp>
        <p:nvSpPr>
          <p:cNvPr id="20" name="texte-119"/>
          <p:cNvSpPr txBox="1"/>
          <p:nvPr/>
        </p:nvSpPr>
        <p:spPr>
          <a:xfrm>
            <a:off x="9418320" y="28072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Lumière allumée = à toi, et tes coeurs.</a:t>
            </a:r>
            <a:endParaRPr lang="en-US" sz="1400" dirty="0"/>
          </a:p>
        </p:txBody>
      </p:sp>
      <p:sp>
        <p:nvSpPr>
          <p:cNvPr id="21" name="numero-120"/>
          <p:cNvSpPr/>
          <p:nvPr/>
        </p:nvSpPr>
        <p:spPr>
          <a:xfrm>
            <a:off x="8915400" y="3511296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2" name="texte-121"/>
          <p:cNvSpPr txBox="1"/>
          <p:nvPr/>
        </p:nvSpPr>
        <p:spPr>
          <a:xfrm>
            <a:off x="891540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e-122"/>
          <p:cNvSpPr txBox="1"/>
          <p:nvPr/>
        </p:nvSpPr>
        <p:spPr>
          <a:xfrm>
            <a:off x="9418320" y="349300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cartes</a:t>
            </a:r>
            <a:endParaRPr lang="en-US" sz="1600" dirty="0"/>
          </a:p>
        </p:txBody>
      </p:sp>
      <p:sp>
        <p:nvSpPr>
          <p:cNvPr id="24" name="texte-123"/>
          <p:cNvSpPr txBox="1"/>
          <p:nvPr/>
        </p:nvSpPr>
        <p:spPr>
          <a:xfrm>
            <a:off x="9418320" y="38313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On en retourne 2 par tour.</a:t>
            </a:r>
            <a:endParaRPr lang="en-US" sz="1400" dirty="0"/>
          </a:p>
        </p:txBody>
      </p:sp>
      <p:sp>
        <p:nvSpPr>
          <p:cNvPr id="25" name="numero-124"/>
          <p:cNvSpPr/>
          <p:nvPr/>
        </p:nvSpPr>
        <p:spPr>
          <a:xfrm>
            <a:off x="8915400" y="4535424"/>
            <a:ext cx="347472" cy="34747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6" name="texte-125"/>
          <p:cNvSpPr txBox="1"/>
          <p:nvPr/>
        </p:nvSpPr>
        <p:spPr>
          <a:xfrm>
            <a:off x="8915400" y="4535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e-126"/>
          <p:cNvSpPr txBox="1"/>
          <p:nvPr/>
        </p:nvSpPr>
        <p:spPr>
          <a:xfrm>
            <a:off x="9418320" y="45171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Les paires trouvées</a:t>
            </a:r>
            <a:endParaRPr lang="en-US" sz="1600" dirty="0"/>
          </a:p>
        </p:txBody>
      </p:sp>
      <p:sp>
        <p:nvSpPr>
          <p:cNvPr id="28" name="texte-127"/>
          <p:cNvSpPr txBox="1"/>
          <p:nvPr/>
        </p:nvSpPr>
        <p:spPr>
          <a:xfrm>
            <a:off x="9418320" y="4855464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Une colonne par joueur.</a:t>
            </a:r>
            <a:endParaRPr lang="en-US" sz="1400" dirty="0"/>
          </a:p>
        </p:txBody>
      </p:sp>
      <p:sp>
        <p:nvSpPr>
          <p:cNvPr id="29" name="texte-128"/>
          <p:cNvSpPr txBox="1"/>
          <p:nvPr/>
        </p:nvSpPr>
        <p:spPr>
          <a:xfrm>
            <a:off x="548640" y="55626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Les paires des autres joueurs sont plus pâles : on voit mieux celles du joueur qui joue.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Contre l'ordinateur</a:t>
            </a:r>
            <a:endParaRPr lang="en-US" sz="3600" dirty="0"/>
          </a:p>
        </p:txBody>
      </p:sp>
      <p:sp>
        <p:nvSpPr>
          <p:cNvPr id="3" name="cadre-129"/>
          <p:cNvSpPr/>
          <p:nvPr/>
        </p:nvSpPr>
        <p:spPr>
          <a:xfrm>
            <a:off x="484632" y="1495552"/>
            <a:ext cx="6894576" cy="3135376"/>
          </a:xfrm>
          <a:prstGeom prst="roundRect">
            <a:avLst>
              <a:gd name="adj" fmla="val 35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e-130" descr="Partie contre l'ordinateur, thème Jap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9560"/>
            <a:ext cx="6766560" cy="3007360"/>
          </a:xfrm>
          <a:prstGeom prst="rect">
            <a:avLst/>
          </a:prstGeom>
        </p:spPr>
      </p:pic>
      <p:sp>
        <p:nvSpPr>
          <p:cNvPr id="5" name="texte-131"/>
          <p:cNvSpPr txBox="1"/>
          <p:nvPr/>
        </p:nvSpPr>
        <p:spPr>
          <a:xfrm>
            <a:off x="548640" y="48869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L'ordinateur se souvient des cartes qu'il a vues, comme un vrai joueur. Le niveau choisi décide s'il s'en sert.</a:t>
            </a:r>
            <a:endParaRPr lang="en-US" sz="1600" dirty="0"/>
          </a:p>
        </p:txBody>
      </p:sp>
      <p:sp>
        <p:nvSpPr>
          <p:cNvPr id="6" name="cadre-132"/>
          <p:cNvSpPr/>
          <p:nvPr/>
        </p:nvSpPr>
        <p:spPr>
          <a:xfrm>
            <a:off x="7772400" y="141732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7" name="texte-133"/>
          <p:cNvSpPr txBox="1"/>
          <p:nvPr/>
        </p:nvSpPr>
        <p:spPr>
          <a:xfrm>
            <a:off x="8046720" y="1673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Très naze</a:t>
            </a:r>
            <a:endParaRPr lang="en-US" sz="1800" dirty="0"/>
          </a:p>
        </p:txBody>
      </p:sp>
      <p:sp>
        <p:nvSpPr>
          <p:cNvPr id="8" name="texte-134"/>
          <p:cNvSpPr txBox="1"/>
          <p:nvPr/>
        </p:nvSpPr>
        <p:spPr>
          <a:xfrm>
            <a:off x="8046720" y="2103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Il ne se sert jamais de sa mémoire.</a:t>
            </a:r>
            <a:endParaRPr lang="en-US" sz="1500" dirty="0"/>
          </a:p>
        </p:txBody>
      </p:sp>
      <p:sp>
        <p:nvSpPr>
          <p:cNvPr id="9" name="cadre-135"/>
          <p:cNvSpPr/>
          <p:nvPr/>
        </p:nvSpPr>
        <p:spPr>
          <a:xfrm>
            <a:off x="7772400" y="301752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0" name="texte-136"/>
          <p:cNvSpPr txBox="1"/>
          <p:nvPr/>
        </p:nvSpPr>
        <p:spPr>
          <a:xfrm>
            <a:off x="804672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Très moyen</a:t>
            </a:r>
            <a:endParaRPr lang="en-US" sz="1800" dirty="0"/>
          </a:p>
        </p:txBody>
      </p:sp>
      <p:sp>
        <p:nvSpPr>
          <p:cNvPr id="11" name="texte-137"/>
          <p:cNvSpPr txBox="1"/>
          <p:nvPr/>
        </p:nvSpPr>
        <p:spPr>
          <a:xfrm>
            <a:off x="8046720" y="3703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Il s'en sert une fois sur deux.</a:t>
            </a:r>
            <a:endParaRPr lang="en-US" sz="1500" dirty="0"/>
          </a:p>
        </p:txBody>
      </p:sp>
      <p:sp>
        <p:nvSpPr>
          <p:cNvPr id="12" name="cadre-138"/>
          <p:cNvSpPr/>
          <p:nvPr/>
        </p:nvSpPr>
        <p:spPr>
          <a:xfrm>
            <a:off x="7772400" y="4617720"/>
            <a:ext cx="384048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3" name="texte-139"/>
          <p:cNvSpPr txBox="1"/>
          <p:nvPr/>
        </p:nvSpPr>
        <p:spPr>
          <a:xfrm>
            <a:off x="8046720" y="4873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Très fort</a:t>
            </a:r>
            <a:endParaRPr lang="en-US" sz="1800" dirty="0"/>
          </a:p>
        </p:txBody>
      </p:sp>
      <p:sp>
        <p:nvSpPr>
          <p:cNvPr id="14" name="texte-140"/>
          <p:cNvSpPr txBox="1"/>
          <p:nvPr/>
        </p:nvSpPr>
        <p:spPr>
          <a:xfrm>
            <a:off x="8046720" y="53035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Il s'en sert presque toujours.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Thèmes, couleurs et langues</a:t>
            </a:r>
            <a:endParaRPr lang="en-US" sz="3600" dirty="0"/>
          </a:p>
        </p:txBody>
      </p:sp>
      <p:sp>
        <p:nvSpPr>
          <p:cNvPr id="3" name="cadre-141"/>
          <p:cNvSpPr/>
          <p:nvPr/>
        </p:nvSpPr>
        <p:spPr>
          <a:xfrm>
            <a:off x="484632" y="1353820"/>
            <a:ext cx="3602736" cy="1672336"/>
          </a:xfrm>
          <a:prstGeom prst="roundRect">
            <a:avLst>
              <a:gd name="adj" fmla="val 656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e-142" descr="Thème Médiamati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828"/>
            <a:ext cx="3474720" cy="1544320"/>
          </a:xfrm>
          <a:prstGeom prst="rect">
            <a:avLst/>
          </a:prstGeom>
        </p:spPr>
      </p:pic>
      <p:sp>
        <p:nvSpPr>
          <p:cNvPr id="5" name="texte-143"/>
          <p:cNvSpPr txBox="1"/>
          <p:nvPr/>
        </p:nvSpPr>
        <p:spPr>
          <a:xfrm>
            <a:off x="548640" y="30993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Médiamatique</a:t>
            </a:r>
            <a:endParaRPr lang="en-US" sz="1500" dirty="0"/>
          </a:p>
        </p:txBody>
      </p:sp>
      <p:sp>
        <p:nvSpPr>
          <p:cNvPr id="6" name="cadre-144"/>
          <p:cNvSpPr/>
          <p:nvPr/>
        </p:nvSpPr>
        <p:spPr>
          <a:xfrm>
            <a:off x="4279392" y="1353820"/>
            <a:ext cx="3602736" cy="1672336"/>
          </a:xfrm>
          <a:prstGeom prst="roundRect">
            <a:avLst>
              <a:gd name="adj" fmla="val 656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apture-145" descr="Thème Jap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828"/>
            <a:ext cx="3474720" cy="1544320"/>
          </a:xfrm>
          <a:prstGeom prst="rect">
            <a:avLst/>
          </a:prstGeom>
        </p:spPr>
      </p:pic>
      <p:sp>
        <p:nvSpPr>
          <p:cNvPr id="8" name="texte-146"/>
          <p:cNvSpPr txBox="1"/>
          <p:nvPr/>
        </p:nvSpPr>
        <p:spPr>
          <a:xfrm>
            <a:off x="4343400" y="30993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Japon</a:t>
            </a:r>
            <a:endParaRPr lang="en-US" sz="1500" dirty="0"/>
          </a:p>
        </p:txBody>
      </p:sp>
      <p:sp>
        <p:nvSpPr>
          <p:cNvPr id="9" name="cadre-147"/>
          <p:cNvSpPr/>
          <p:nvPr/>
        </p:nvSpPr>
        <p:spPr>
          <a:xfrm>
            <a:off x="8074152" y="1353820"/>
            <a:ext cx="3602736" cy="1672336"/>
          </a:xfrm>
          <a:prstGeom prst="roundRect">
            <a:avLst>
              <a:gd name="adj" fmla="val 656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apture-148" descr="Thème Animé / Pop cultu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417828"/>
            <a:ext cx="3474720" cy="1544320"/>
          </a:xfrm>
          <a:prstGeom prst="rect">
            <a:avLst/>
          </a:prstGeom>
        </p:spPr>
      </p:pic>
      <p:sp>
        <p:nvSpPr>
          <p:cNvPr id="11" name="texte-149"/>
          <p:cNvSpPr txBox="1"/>
          <p:nvPr/>
        </p:nvSpPr>
        <p:spPr>
          <a:xfrm>
            <a:off x="8138160" y="30993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Animé / Pop culture</a:t>
            </a:r>
            <a:endParaRPr lang="en-US" sz="1500" dirty="0"/>
          </a:p>
        </p:txBody>
      </p:sp>
      <p:sp>
        <p:nvSpPr>
          <p:cNvPr id="12" name="cadre-150"/>
          <p:cNvSpPr/>
          <p:nvPr/>
        </p:nvSpPr>
        <p:spPr>
          <a:xfrm>
            <a:off x="484632" y="3731260"/>
            <a:ext cx="3602736" cy="1672336"/>
          </a:xfrm>
          <a:prstGeom prst="roundRect">
            <a:avLst>
              <a:gd name="adj" fmla="val 656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apture-151" descr="Thème Communauté engagé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95268"/>
            <a:ext cx="3474720" cy="1544320"/>
          </a:xfrm>
          <a:prstGeom prst="rect">
            <a:avLst/>
          </a:prstGeom>
        </p:spPr>
      </p:pic>
      <p:sp>
        <p:nvSpPr>
          <p:cNvPr id="14" name="texte-152"/>
          <p:cNvSpPr txBox="1"/>
          <p:nvPr/>
        </p:nvSpPr>
        <p:spPr>
          <a:xfrm>
            <a:off x="548640" y="54767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Communauté engagée</a:t>
            </a:r>
            <a:endParaRPr lang="en-US" sz="1500" dirty="0"/>
          </a:p>
        </p:txBody>
      </p:sp>
      <p:sp>
        <p:nvSpPr>
          <p:cNvPr id="15" name="cadre-153"/>
          <p:cNvSpPr/>
          <p:nvPr/>
        </p:nvSpPr>
        <p:spPr>
          <a:xfrm>
            <a:off x="4279392" y="3731260"/>
            <a:ext cx="3602736" cy="1672336"/>
          </a:xfrm>
          <a:prstGeom prst="roundRect">
            <a:avLst>
              <a:gd name="adj" fmla="val 6561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apture-154" descr="Thème Youtu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3795268"/>
            <a:ext cx="3474720" cy="1544320"/>
          </a:xfrm>
          <a:prstGeom prst="rect">
            <a:avLst/>
          </a:prstGeom>
        </p:spPr>
      </p:pic>
      <p:sp>
        <p:nvSpPr>
          <p:cNvPr id="17" name="texte-155"/>
          <p:cNvSpPr txBox="1"/>
          <p:nvPr/>
        </p:nvSpPr>
        <p:spPr>
          <a:xfrm>
            <a:off x="4343400" y="54767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Youtube</a:t>
            </a:r>
            <a:endParaRPr lang="en-US" sz="1500" dirty="0"/>
          </a:p>
        </p:txBody>
      </p:sp>
      <p:sp>
        <p:nvSpPr>
          <p:cNvPr id="18" name="cadre-156"/>
          <p:cNvSpPr/>
          <p:nvPr/>
        </p:nvSpPr>
        <p:spPr>
          <a:xfrm>
            <a:off x="8138160" y="3730752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e-157"/>
          <p:cNvSpPr txBox="1"/>
          <p:nvPr/>
        </p:nvSpPr>
        <p:spPr>
          <a:xfrm>
            <a:off x="8366760" y="3730752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Deux boutons en plus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🌗 : nuit, crépuscule ou jour.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Fr : français, allemand ou anglais.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Fin de partie</a:t>
            </a:r>
            <a:endParaRPr lang="en-US" sz="3600" dirty="0"/>
          </a:p>
        </p:txBody>
      </p:sp>
      <p:sp>
        <p:nvSpPr>
          <p:cNvPr id="3" name="cadre-158"/>
          <p:cNvSpPr/>
          <p:nvPr/>
        </p:nvSpPr>
        <p:spPr>
          <a:xfrm>
            <a:off x="601144" y="1353312"/>
            <a:ext cx="6204351" cy="4837176"/>
          </a:xfrm>
          <a:prstGeom prst="roundRect">
            <a:avLst>
              <a:gd name="adj" fmla="val 2268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apture-159" descr="Écran de fin d'une série de 2 par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152" y="1417320"/>
            <a:ext cx="6076335" cy="4709160"/>
          </a:xfrm>
          <a:prstGeom prst="rect">
            <a:avLst/>
          </a:prstGeom>
        </p:spPr>
      </p:pic>
      <p:sp>
        <p:nvSpPr>
          <p:cNvPr id="5" name="numero-160"/>
          <p:cNvSpPr/>
          <p:nvPr/>
        </p:nvSpPr>
        <p:spPr>
          <a:xfrm>
            <a:off x="7315200" y="15544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6" name="texte-161"/>
          <p:cNvSpPr txBox="1"/>
          <p:nvPr/>
        </p:nvSpPr>
        <p:spPr>
          <a:xfrm>
            <a:off x="731520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e-162"/>
          <p:cNvSpPr txBox="1"/>
          <p:nvPr/>
        </p:nvSpPr>
        <p:spPr>
          <a:xfrm>
            <a:off x="7909560" y="1536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Qui a gagné</a:t>
            </a:r>
            <a:endParaRPr lang="en-US" sz="1700" dirty="0"/>
          </a:p>
        </p:txBody>
      </p:sp>
      <p:sp>
        <p:nvSpPr>
          <p:cNvPr id="8" name="texte-163"/>
          <p:cNvSpPr txBox="1"/>
          <p:nvPr/>
        </p:nvSpPr>
        <p:spPr>
          <a:xfrm>
            <a:off x="7909560" y="188366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 titre annonce le gagnant.</a:t>
            </a:r>
            <a:endParaRPr lang="en-US" sz="1500" dirty="0"/>
          </a:p>
        </p:txBody>
      </p:sp>
      <p:sp>
        <p:nvSpPr>
          <p:cNvPr id="9" name="numero-164"/>
          <p:cNvSpPr/>
          <p:nvPr/>
        </p:nvSpPr>
        <p:spPr>
          <a:xfrm>
            <a:off x="7315200" y="26974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0" name="texte-165"/>
          <p:cNvSpPr txBox="1"/>
          <p:nvPr/>
        </p:nvSpPr>
        <p:spPr>
          <a:xfrm>
            <a:off x="7315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e-166"/>
          <p:cNvSpPr txBox="1"/>
          <p:nvPr/>
        </p:nvSpPr>
        <p:spPr>
          <a:xfrm>
            <a:off x="7909560" y="2679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Les statistiques</a:t>
            </a:r>
            <a:endParaRPr lang="en-US" sz="1700" dirty="0"/>
          </a:p>
        </p:txBody>
      </p:sp>
      <p:sp>
        <p:nvSpPr>
          <p:cNvPr id="12" name="texte-167"/>
          <p:cNvSpPr txBox="1"/>
          <p:nvPr/>
        </p:nvSpPr>
        <p:spPr>
          <a:xfrm>
            <a:off x="7909560" y="302666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Paires trouvées, coeurs restants et temps moyen, pour chaque joueur.</a:t>
            </a:r>
            <a:endParaRPr lang="en-US" sz="1500" dirty="0"/>
          </a:p>
        </p:txBody>
      </p:sp>
      <p:sp>
        <p:nvSpPr>
          <p:cNvPr id="13" name="numero-168"/>
          <p:cNvSpPr/>
          <p:nvPr/>
        </p:nvSpPr>
        <p:spPr>
          <a:xfrm>
            <a:off x="7315200" y="38404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4" name="texte-169"/>
          <p:cNvSpPr txBox="1"/>
          <p:nvPr/>
        </p:nvSpPr>
        <p:spPr>
          <a:xfrm>
            <a:off x="7315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e-170"/>
          <p:cNvSpPr txBox="1"/>
          <p:nvPr/>
        </p:nvSpPr>
        <p:spPr>
          <a:xfrm>
            <a:off x="7909560" y="3822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Plusieurs parties</a:t>
            </a:r>
            <a:endParaRPr lang="en-US" sz="1700" dirty="0"/>
          </a:p>
        </p:txBody>
      </p:sp>
      <p:sp>
        <p:nvSpPr>
          <p:cNvPr id="16" name="texte-171"/>
          <p:cNvSpPr txBox="1"/>
          <p:nvPr/>
        </p:nvSpPr>
        <p:spPr>
          <a:xfrm>
            <a:off x="7909560" y="416966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À plusieurs, on peut jouer 2 à 4 parties d'affilée : un bloc par partie.</a:t>
            </a:r>
            <a:endParaRPr lang="en-US" sz="1500" dirty="0"/>
          </a:p>
        </p:txBody>
      </p:sp>
      <p:sp>
        <p:nvSpPr>
          <p:cNvPr id="17" name="numero-172"/>
          <p:cNvSpPr/>
          <p:nvPr/>
        </p:nvSpPr>
        <p:spPr>
          <a:xfrm>
            <a:off x="7315200" y="4983480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8" name="texte-173"/>
          <p:cNvSpPr txBox="1"/>
          <p:nvPr/>
        </p:nvSpPr>
        <p:spPr>
          <a:xfrm>
            <a:off x="731520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e-174"/>
          <p:cNvSpPr txBox="1"/>
          <p:nvPr/>
        </p:nvSpPr>
        <p:spPr>
          <a:xfrm>
            <a:off x="7909560" y="496519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Rejouer</a:t>
            </a:r>
            <a:endParaRPr lang="en-US" sz="1700" dirty="0"/>
          </a:p>
        </p:txBody>
      </p:sp>
      <p:sp>
        <p:nvSpPr>
          <p:cNvPr id="20" name="texte-175"/>
          <p:cNvSpPr txBox="1"/>
          <p:nvPr/>
        </p:nvSpPr>
        <p:spPr>
          <a:xfrm>
            <a:off x="7909560" y="531266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Retour au menu pour une nouvelle partie.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 code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Avec les mots du cours : moule, objet, méthode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Moule, objet, méthode</a:t>
            </a:r>
            <a:endParaRPr lang="en-US" sz="3600" dirty="0"/>
          </a:p>
        </p:txBody>
      </p:sp>
      <p:graphicFrame>
        <p:nvGraphicFramePr>
          <p:cNvPr id="13" name="tableau-1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8463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Mot du cours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Exemple du cours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Dans mon Memory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2"/>
                          </a:solidFill>
                        </a:rPr>
                        <a:t>Classe (le moule)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Meule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Carte, Joueur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2"/>
                          </a:solidFill>
                        </a:rPr>
                        <a:t>Objet (la chose réelle)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cette tomme-ci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cette carte-ci, le Joueur 1 (bleu)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2"/>
                          </a:solidFill>
                        </a:rPr>
                        <a:t>Méthode (une action)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2"/>
                          </a:solidFill>
                        </a:rPr>
                        <a:t>estPret()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estUnePaireAvec(), estElimine()</a:t>
                      </a:r>
                      <a:endParaRPr lang="en-US" sz="1700" dirty="0"/>
                    </a:p>
                  </a:txBody>
                  <a:tcPr marL="182880" marR="182880" marT="45720" marB="45720" anchor="ctr">
                    <a:lnL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B16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4" name="cadre-177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-178"/>
          <p:cNvSpPr txBox="1"/>
          <p:nvPr/>
        </p:nvSpPr>
        <p:spPr>
          <a:xfrm>
            <a:off x="822960" y="4754880"/>
            <a:ext cx="10515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La règle vit avec la carte. </a:t>
            </a:r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La page ne refait pas le test « est-ce une paire ? » : elle demande à la carte, avec carteA.estUnePaireAvec(carteB).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 moule : la classe Carte</a:t>
            </a:r>
            <a:endParaRPr lang="en-US" sz="3600" dirty="0"/>
          </a:p>
        </p:txBody>
      </p:sp>
      <p:sp>
        <p:nvSpPr>
          <p:cNvPr id="3" name="cadre-179"/>
          <p:cNvSpPr/>
          <p:nvPr/>
        </p:nvSpPr>
        <p:spPr>
          <a:xfrm>
            <a:off x="548640" y="1417320"/>
            <a:ext cx="6035040" cy="4709160"/>
          </a:xfrm>
          <a:prstGeom prst="roundRect">
            <a:avLst>
              <a:gd name="adj" fmla="val 233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e-180"/>
          <p:cNvSpPr txBox="1"/>
          <p:nvPr/>
        </p:nvSpPr>
        <p:spPr>
          <a:xfrm>
            <a:off x="822960" y="15819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4-CARTE.JS · EXTRAIT</a:t>
            </a:r>
            <a:endParaRPr lang="en-US" sz="1100" dirty="0"/>
          </a:p>
        </p:txBody>
      </p:sp>
      <p:sp>
        <p:nvSpPr>
          <p:cNvPr id="5" name="code-181"/>
          <p:cNvSpPr txBox="1"/>
          <p:nvPr/>
        </p:nvSpPr>
        <p:spPr>
          <a:xfrm>
            <a:off x="822960" y="187452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numeroSymbole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numeroSymbole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numeroSymbole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retournee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trouvee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Deux cartes forment une paire si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elles portent le même symbole.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estUnePaireAvec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autreCarte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numeroSymbole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autreCarte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numeroSymbole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estVisible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retournee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trouvee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cadre-182"/>
          <p:cNvSpPr/>
          <p:nvPr/>
        </p:nvSpPr>
        <p:spPr>
          <a:xfrm>
            <a:off x="6949440" y="141732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e-183"/>
          <p:cNvSpPr txBox="1"/>
          <p:nvPr/>
        </p:nvSpPr>
        <p:spPr>
          <a:xfrm>
            <a:off x="7223760" y="16733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Les données</a:t>
            </a:r>
            <a:endParaRPr lang="en-US" sz="1700" dirty="0"/>
          </a:p>
        </p:txBody>
      </p:sp>
      <p:sp>
        <p:nvSpPr>
          <p:cNvPr id="8" name="texte-184"/>
          <p:cNvSpPr txBox="1"/>
          <p:nvPr/>
        </p:nvSpPr>
        <p:spPr>
          <a:xfrm>
            <a:off x="7223760" y="20756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id, numeroSymbole, retournee, trouvee : ce que chaque carte sait.</a:t>
            </a:r>
            <a:endParaRPr lang="en-US" sz="1500" dirty="0"/>
          </a:p>
        </p:txBody>
      </p:sp>
      <p:sp>
        <p:nvSpPr>
          <p:cNvPr id="9" name="cadre-185"/>
          <p:cNvSpPr/>
          <p:nvPr/>
        </p:nvSpPr>
        <p:spPr>
          <a:xfrm>
            <a:off x="6949440" y="301752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e-186"/>
          <p:cNvSpPr txBox="1"/>
          <p:nvPr/>
        </p:nvSpPr>
        <p:spPr>
          <a:xfrm>
            <a:off x="7223760" y="32735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constructor et this</a:t>
            </a:r>
            <a:endParaRPr lang="en-US" sz="1700" dirty="0"/>
          </a:p>
        </p:txBody>
      </p:sp>
      <p:sp>
        <p:nvSpPr>
          <p:cNvPr id="11" name="texte-187"/>
          <p:cNvSpPr txBox="1"/>
          <p:nvPr/>
        </p:nvSpPr>
        <p:spPr>
          <a:xfrm>
            <a:off x="7223760" y="36758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À chaque new Carte(…), this est la nouvelle carte qu'on remplit.</a:t>
            </a:r>
            <a:endParaRPr lang="en-US" sz="1500" dirty="0"/>
          </a:p>
        </p:txBody>
      </p:sp>
      <p:sp>
        <p:nvSpPr>
          <p:cNvPr id="12" name="cadre-188"/>
          <p:cNvSpPr/>
          <p:nvPr/>
        </p:nvSpPr>
        <p:spPr>
          <a:xfrm>
            <a:off x="6949440" y="4617720"/>
            <a:ext cx="46634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e-189"/>
          <p:cNvSpPr txBox="1"/>
          <p:nvPr/>
        </p:nvSpPr>
        <p:spPr>
          <a:xfrm>
            <a:off x="7223760" y="4873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Les méthodes</a:t>
            </a:r>
            <a:endParaRPr lang="en-US" sz="1700" dirty="0"/>
          </a:p>
        </p:txBody>
      </p:sp>
      <p:sp>
        <p:nvSpPr>
          <p:cNvPr id="14" name="texte-190"/>
          <p:cNvSpPr txBox="1"/>
          <p:nvPr/>
        </p:nvSpPr>
        <p:spPr>
          <a:xfrm>
            <a:off x="7223760" y="52760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estUnePaireAvec() et estVisible() répondent true ou false.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Ma règle, dite sans lire</a:t>
            </a:r>
            <a:endParaRPr lang="en-US" sz="3600" dirty="0"/>
          </a:p>
        </p:txBody>
      </p:sp>
      <p:sp>
        <p:nvSpPr>
          <p:cNvPr id="3" name="cadre-191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texte-192"/>
          <p:cNvSpPr txBox="1"/>
          <p:nvPr/>
        </p:nvSpPr>
        <p:spPr>
          <a:xfrm>
            <a:off x="822960" y="1463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estUnePaireAvec(autre)</a:t>
            </a:r>
            <a:endParaRPr lang="en-US" sz="1700" dirty="0"/>
          </a:p>
        </p:txBody>
      </p:sp>
      <p:sp>
        <p:nvSpPr>
          <p:cNvPr id="5" name="texte-193"/>
          <p:cNvSpPr txBox="1"/>
          <p:nvPr/>
        </p:nvSpPr>
        <p:spPr>
          <a:xfrm>
            <a:off x="4846320" y="146304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retourne true quand les deux cartes ont le même numeroSymbole.</a:t>
            </a:r>
            <a:endParaRPr lang="en-US" sz="1600" dirty="0"/>
          </a:p>
        </p:txBody>
      </p:sp>
      <p:sp>
        <p:nvSpPr>
          <p:cNvPr id="6" name="pastille-194"/>
          <p:cNvSpPr/>
          <p:nvPr/>
        </p:nvSpPr>
        <p:spPr>
          <a:xfrm>
            <a:off x="10332720" y="1810512"/>
            <a:ext cx="580644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7" name="texte-195"/>
          <p:cNvSpPr txBox="1"/>
          <p:nvPr/>
        </p:nvSpPr>
        <p:spPr>
          <a:xfrm>
            <a:off x="10332720" y="1810512"/>
            <a:ext cx="580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Carte</a:t>
            </a:r>
            <a:endParaRPr lang="en-US" sz="1200" dirty="0"/>
          </a:p>
        </p:txBody>
      </p:sp>
      <p:sp>
        <p:nvSpPr>
          <p:cNvPr id="8" name="cadre-196"/>
          <p:cNvSpPr/>
          <p:nvPr/>
        </p:nvSpPr>
        <p:spPr>
          <a:xfrm>
            <a:off x="548640" y="265176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e-197"/>
          <p:cNvSpPr txBox="1"/>
          <p:nvPr/>
        </p:nvSpPr>
        <p:spPr>
          <a:xfrm>
            <a:off x="822960" y="2651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estVisible()</a:t>
            </a:r>
            <a:endParaRPr lang="en-US" sz="1700" dirty="0"/>
          </a:p>
        </p:txBody>
      </p:sp>
      <p:sp>
        <p:nvSpPr>
          <p:cNvPr id="10" name="texte-198"/>
          <p:cNvSpPr txBox="1"/>
          <p:nvPr/>
        </p:nvSpPr>
        <p:spPr>
          <a:xfrm>
            <a:off x="4846320" y="265176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retourne true quand la carte est retournée ou déjà trouvée.</a:t>
            </a:r>
            <a:endParaRPr lang="en-US" sz="1600" dirty="0"/>
          </a:p>
        </p:txBody>
      </p:sp>
      <p:sp>
        <p:nvSpPr>
          <p:cNvPr id="11" name="pastille-199"/>
          <p:cNvSpPr/>
          <p:nvPr/>
        </p:nvSpPr>
        <p:spPr>
          <a:xfrm>
            <a:off x="10332720" y="2999232"/>
            <a:ext cx="58064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e-200"/>
          <p:cNvSpPr txBox="1"/>
          <p:nvPr/>
        </p:nvSpPr>
        <p:spPr>
          <a:xfrm>
            <a:off x="10332720" y="2999232"/>
            <a:ext cx="580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Carte</a:t>
            </a:r>
            <a:endParaRPr lang="en-US" sz="1200" dirty="0"/>
          </a:p>
        </p:txBody>
      </p:sp>
      <p:sp>
        <p:nvSpPr>
          <p:cNvPr id="13" name="cadre-201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texte-202"/>
          <p:cNvSpPr txBox="1"/>
          <p:nvPr/>
        </p:nvSpPr>
        <p:spPr>
          <a:xfrm>
            <a:off x="822960" y="3840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estElimine()</a:t>
            </a:r>
            <a:endParaRPr lang="en-US" sz="1700" dirty="0"/>
          </a:p>
        </p:txBody>
      </p:sp>
      <p:sp>
        <p:nvSpPr>
          <p:cNvPr id="15" name="texte-203"/>
          <p:cNvSpPr txBox="1"/>
          <p:nvPr/>
        </p:nvSpPr>
        <p:spPr>
          <a:xfrm>
            <a:off x="4846320" y="3840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retourne true quand le joueur a 0 coeur (coeurs &lt;= 0).</a:t>
            </a:r>
            <a:endParaRPr lang="en-US" sz="1600" dirty="0"/>
          </a:p>
        </p:txBody>
      </p:sp>
      <p:sp>
        <p:nvSpPr>
          <p:cNvPr id="16" name="pastille-204"/>
          <p:cNvSpPr/>
          <p:nvPr/>
        </p:nvSpPr>
        <p:spPr>
          <a:xfrm>
            <a:off x="10332720" y="4187952"/>
            <a:ext cx="667512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7" name="texte-205"/>
          <p:cNvSpPr txBox="1"/>
          <p:nvPr/>
        </p:nvSpPr>
        <p:spPr>
          <a:xfrm>
            <a:off x="10332720" y="4187952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Joueur</a:t>
            </a:r>
            <a:endParaRPr lang="en-US" sz="1200" dirty="0"/>
          </a:p>
        </p:txBody>
      </p:sp>
      <p:sp>
        <p:nvSpPr>
          <p:cNvPr id="18" name="cadre-206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9" name="code-207"/>
          <p:cNvSpPr txBox="1"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 objet réel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estVisible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 : elle est cachée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retourner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estVisible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D'un objet à toute la grille</a:t>
            </a:r>
            <a:endParaRPr lang="en-US" sz="3600" dirty="0"/>
          </a:p>
        </p:txBody>
      </p:sp>
      <p:sp>
        <p:nvSpPr>
          <p:cNvPr id="3" name="cadre-208"/>
          <p:cNvSpPr/>
          <p:nvPr/>
        </p:nvSpPr>
        <p:spPr>
          <a:xfrm>
            <a:off x="548640" y="1417320"/>
            <a:ext cx="6949440" cy="4709160"/>
          </a:xfrm>
          <a:prstGeom prst="roundRect">
            <a:avLst>
              <a:gd name="adj" fmla="val 2330"/>
            </a:avLst>
          </a:prstGeom>
          <a:solidFill>
            <a:schemeClr val="tx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e-209"/>
          <p:cNvSpPr txBox="1"/>
          <p:nvPr/>
        </p:nvSpPr>
        <p:spPr>
          <a:xfrm>
            <a:off x="822960" y="15819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4-PARTIE.JS · EXTRAIT SIMPLIFIÉ</a:t>
            </a:r>
            <a:endParaRPr lang="en-US" sz="1100" dirty="0"/>
          </a:p>
        </p:txBody>
      </p:sp>
      <p:sp>
        <p:nvSpPr>
          <p:cNvPr id="5" name="code-210"/>
          <p:cNvSpPr txBox="1"/>
          <p:nvPr/>
        </p:nvSpPr>
        <p:spPr>
          <a:xfrm>
            <a:off x="822960" y="187452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Chaque symbole donne deux cartes (= une paire)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nbPaires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cartes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La page demande à la carte, elle ne refait pas le test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rafraichirCarte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bouton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getElementById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"carte-"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bouton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classList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"trouvee"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trouvee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estVisible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cadre-211"/>
          <p:cNvSpPr/>
          <p:nvPr/>
        </p:nvSpPr>
        <p:spPr>
          <a:xfrm>
            <a:off x="7863840" y="141732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ond-212"/>
          <p:cNvSpPr/>
          <p:nvPr/>
        </p:nvSpPr>
        <p:spPr>
          <a:xfrm>
            <a:off x="8138160" y="16916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one-2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810512"/>
            <a:ext cx="265176" cy="265176"/>
          </a:xfrm>
          <a:prstGeom prst="rect">
            <a:avLst/>
          </a:prstGeom>
        </p:spPr>
      </p:pic>
      <p:sp>
        <p:nvSpPr>
          <p:cNvPr id="9" name="texte-214"/>
          <p:cNvSpPr txBox="1"/>
          <p:nvPr/>
        </p:nvSpPr>
        <p:spPr>
          <a:xfrm>
            <a:off x="8778240" y="1673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16 cartes = 16 new Carte</a:t>
            </a:r>
            <a:endParaRPr lang="en-US" sz="1600" dirty="0"/>
          </a:p>
        </p:txBody>
      </p:sp>
      <p:sp>
        <p:nvSpPr>
          <p:cNvPr id="10" name="texte-215"/>
          <p:cNvSpPr txBox="1"/>
          <p:nvPr/>
        </p:nvSpPr>
        <p:spPr>
          <a:xfrm>
            <a:off x="8778240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Une boucle for fabrique les objets, deux par symbole.</a:t>
            </a:r>
            <a:endParaRPr lang="en-US" sz="1400" dirty="0"/>
          </a:p>
        </p:txBody>
      </p:sp>
      <p:sp>
        <p:nvSpPr>
          <p:cNvPr id="11" name="cadre-216"/>
          <p:cNvSpPr/>
          <p:nvPr/>
        </p:nvSpPr>
        <p:spPr>
          <a:xfrm>
            <a:off x="7863840" y="301752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rond-217"/>
          <p:cNvSpPr/>
          <p:nvPr/>
        </p:nvSpPr>
        <p:spPr>
          <a:xfrm>
            <a:off x="8138160" y="32918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e-2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3410712"/>
            <a:ext cx="265176" cy="265176"/>
          </a:xfrm>
          <a:prstGeom prst="rect">
            <a:avLst/>
          </a:prstGeom>
        </p:spPr>
      </p:pic>
      <p:sp>
        <p:nvSpPr>
          <p:cNvPr id="14" name="texte-219"/>
          <p:cNvSpPr txBox="1"/>
          <p:nvPr/>
        </p:nvSpPr>
        <p:spPr>
          <a:xfrm>
            <a:off x="8778240" y="32735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 bouton par carte</a:t>
            </a:r>
            <a:endParaRPr lang="en-US" sz="1600" dirty="0"/>
          </a:p>
        </p:txBody>
      </p:sp>
      <p:sp>
        <p:nvSpPr>
          <p:cNvPr id="15" name="texte-220"/>
          <p:cNvSpPr txBox="1"/>
          <p:nvPr/>
        </p:nvSpPr>
        <p:spPr>
          <a:xfrm>
            <a:off x="8778240" y="36758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createElement crée le bouton, addEventListener écoute le clic.</a:t>
            </a:r>
            <a:endParaRPr lang="en-US" sz="1400" dirty="0"/>
          </a:p>
        </p:txBody>
      </p:sp>
      <p:sp>
        <p:nvSpPr>
          <p:cNvPr id="16" name="cadre-221"/>
          <p:cNvSpPr/>
          <p:nvPr/>
        </p:nvSpPr>
        <p:spPr>
          <a:xfrm>
            <a:off x="7863840" y="461772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rond-222"/>
          <p:cNvSpPr/>
          <p:nvPr/>
        </p:nvSpPr>
        <p:spPr>
          <a:xfrm>
            <a:off x="8138160" y="48920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8" name="icone-22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010912"/>
            <a:ext cx="265176" cy="265176"/>
          </a:xfrm>
          <a:prstGeom prst="rect">
            <a:avLst/>
          </a:prstGeom>
        </p:spPr>
      </p:pic>
      <p:sp>
        <p:nvSpPr>
          <p:cNvPr id="19" name="texte-224"/>
          <p:cNvSpPr txBox="1"/>
          <p:nvPr/>
        </p:nvSpPr>
        <p:spPr>
          <a:xfrm>
            <a:off x="8778240" y="4873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Une boucle mince</a:t>
            </a:r>
            <a:endParaRPr lang="en-US" sz="1600" dirty="0"/>
          </a:p>
        </p:txBody>
      </p:sp>
      <p:sp>
        <p:nvSpPr>
          <p:cNvPr id="20" name="texte-225"/>
          <p:cNvSpPr txBox="1"/>
          <p:nvPr/>
        </p:nvSpPr>
        <p:spPr>
          <a:xfrm>
            <a:off x="8778240" y="52760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Elle demande carte.estVisible() et affiche la réponse.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Les fichiers du projet</a:t>
            </a:r>
            <a:endParaRPr lang="en-US" sz="3600" dirty="0"/>
          </a:p>
        </p:txBody>
      </p:sp>
      <p:sp>
        <p:nvSpPr>
          <p:cNvPr id="3" name="cadre-226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ond-227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22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65176" cy="265176"/>
          </a:xfrm>
          <a:prstGeom prst="rect">
            <a:avLst/>
          </a:prstGeom>
        </p:spPr>
      </p:pic>
      <p:sp>
        <p:nvSpPr>
          <p:cNvPr id="6" name="texte-229"/>
          <p:cNvSpPr txBox="1"/>
          <p:nvPr/>
        </p:nvSpPr>
        <p:spPr>
          <a:xfrm>
            <a:off x="146304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5-index.html</a:t>
            </a:r>
            <a:endParaRPr lang="en-US" sz="1800" dirty="0"/>
          </a:p>
        </p:txBody>
      </p:sp>
      <p:sp>
        <p:nvSpPr>
          <p:cNvPr id="7" name="texte-230"/>
          <p:cNvSpPr txBox="1"/>
          <p:nvPr/>
        </p:nvSpPr>
        <p:spPr>
          <a:xfrm>
            <a:off x="1463040" y="21214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La structure : le menu, le plateau, le livre et l'écran de fin.</a:t>
            </a:r>
            <a:endParaRPr lang="en-US" sz="1500" dirty="0"/>
          </a:p>
        </p:txBody>
      </p:sp>
      <p:sp>
        <p:nvSpPr>
          <p:cNvPr id="8" name="cadre-231"/>
          <p:cNvSpPr/>
          <p:nvPr/>
        </p:nvSpPr>
        <p:spPr>
          <a:xfrm>
            <a:off x="434340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rond-232"/>
          <p:cNvSpPr/>
          <p:nvPr/>
        </p:nvSpPr>
        <p:spPr>
          <a:xfrm>
            <a:off x="4617720" y="17373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e-2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1856232"/>
            <a:ext cx="265176" cy="265176"/>
          </a:xfrm>
          <a:prstGeom prst="rect">
            <a:avLst/>
          </a:prstGeom>
        </p:spPr>
      </p:pic>
      <p:sp>
        <p:nvSpPr>
          <p:cNvPr id="11" name="texte-234"/>
          <p:cNvSpPr txBox="1"/>
          <p:nvPr/>
        </p:nvSpPr>
        <p:spPr>
          <a:xfrm>
            <a:off x="525780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6-style.css</a:t>
            </a:r>
            <a:endParaRPr lang="en-US" sz="1800" dirty="0"/>
          </a:p>
        </p:txBody>
      </p:sp>
      <p:sp>
        <p:nvSpPr>
          <p:cNvPr id="12" name="texte-235"/>
          <p:cNvSpPr txBox="1"/>
          <p:nvPr/>
        </p:nvSpPr>
        <p:spPr>
          <a:xfrm>
            <a:off x="5257800" y="21214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L'apparence : couleurs dans des variables, flexbox pour la grille.</a:t>
            </a:r>
            <a:endParaRPr lang="en-US" sz="1500" dirty="0"/>
          </a:p>
        </p:txBody>
      </p:sp>
      <p:sp>
        <p:nvSpPr>
          <p:cNvPr id="13" name="cadre-236"/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ond-237"/>
          <p:cNvSpPr/>
          <p:nvPr/>
        </p:nvSpPr>
        <p:spPr>
          <a:xfrm>
            <a:off x="8412480" y="17373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e-23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56232"/>
            <a:ext cx="265176" cy="265176"/>
          </a:xfrm>
          <a:prstGeom prst="rect">
            <a:avLst/>
          </a:prstGeom>
        </p:spPr>
      </p:pic>
      <p:sp>
        <p:nvSpPr>
          <p:cNvPr id="16" name="texte-239"/>
          <p:cNvSpPr txBox="1"/>
          <p:nvPr/>
        </p:nvSpPr>
        <p:spPr>
          <a:xfrm>
            <a:off x="9052560" y="1719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Fichiers 4-….js</a:t>
            </a:r>
            <a:endParaRPr lang="en-US" sz="1800" dirty="0"/>
          </a:p>
        </p:txBody>
      </p:sp>
      <p:sp>
        <p:nvSpPr>
          <p:cNvPr id="17" name="texte-240"/>
          <p:cNvSpPr txBox="1"/>
          <p:nvPr/>
        </p:nvSpPr>
        <p:spPr>
          <a:xfrm>
            <a:off x="9052560" y="212140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Une classe par fichier : Carte, Joueur, Partie, Menu…</a:t>
            </a:r>
            <a:endParaRPr lang="en-US" sz="1500" dirty="0"/>
          </a:p>
        </p:txBody>
      </p:sp>
      <p:sp>
        <p:nvSpPr>
          <p:cNvPr id="18" name="texte-241"/>
          <p:cNvSpPr txBox="1"/>
          <p:nvPr/>
        </p:nvSpPr>
        <p:spPr>
          <a:xfrm>
            <a:off x="54864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Les classes principales</a:t>
            </a:r>
            <a:endParaRPr lang="en-US" sz="1700" dirty="0"/>
          </a:p>
        </p:txBody>
      </p:sp>
      <p:sp>
        <p:nvSpPr>
          <p:cNvPr id="19" name="cadre-242"/>
          <p:cNvSpPr/>
          <p:nvPr/>
        </p:nvSpPr>
        <p:spPr>
          <a:xfrm>
            <a:off x="548640" y="438912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0" name="texte-243"/>
          <p:cNvSpPr txBox="1"/>
          <p:nvPr/>
        </p:nvSpPr>
        <p:spPr>
          <a:xfrm>
            <a:off x="77724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Carte</a:t>
            </a:r>
            <a:endParaRPr lang="en-US" sz="1700" dirty="0"/>
          </a:p>
        </p:txBody>
      </p:sp>
      <p:sp>
        <p:nvSpPr>
          <p:cNvPr id="21" name="texte-244"/>
          <p:cNvSpPr txBox="1"/>
          <p:nvPr/>
        </p:nvSpPr>
        <p:spPr>
          <a:xfrm>
            <a:off x="777240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une carte du jeu</a:t>
            </a:r>
            <a:endParaRPr lang="en-US" sz="1400" dirty="0"/>
          </a:p>
        </p:txBody>
      </p:sp>
      <p:sp>
        <p:nvSpPr>
          <p:cNvPr id="22" name="cadre-245"/>
          <p:cNvSpPr/>
          <p:nvPr/>
        </p:nvSpPr>
        <p:spPr>
          <a:xfrm>
            <a:off x="3346704" y="438912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3" name="texte-246"/>
          <p:cNvSpPr txBox="1"/>
          <p:nvPr/>
        </p:nvSpPr>
        <p:spPr>
          <a:xfrm>
            <a:off x="3575304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Joueur</a:t>
            </a:r>
            <a:endParaRPr lang="en-US" sz="1700" dirty="0"/>
          </a:p>
        </p:txBody>
      </p:sp>
      <p:sp>
        <p:nvSpPr>
          <p:cNvPr id="24" name="texte-247"/>
          <p:cNvSpPr txBox="1"/>
          <p:nvPr/>
        </p:nvSpPr>
        <p:spPr>
          <a:xfrm>
            <a:off x="3575304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ses coeurs et sa couleur</a:t>
            </a:r>
            <a:endParaRPr lang="en-US" sz="1400" dirty="0"/>
          </a:p>
        </p:txBody>
      </p:sp>
      <p:sp>
        <p:nvSpPr>
          <p:cNvPr id="25" name="cadre-248"/>
          <p:cNvSpPr/>
          <p:nvPr/>
        </p:nvSpPr>
        <p:spPr>
          <a:xfrm>
            <a:off x="6144768" y="438912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6" name="texte-249"/>
          <p:cNvSpPr txBox="1"/>
          <p:nvPr/>
        </p:nvSpPr>
        <p:spPr>
          <a:xfrm>
            <a:off x="6373368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Partie</a:t>
            </a:r>
            <a:endParaRPr lang="en-US" sz="1700" dirty="0"/>
          </a:p>
        </p:txBody>
      </p:sp>
      <p:sp>
        <p:nvSpPr>
          <p:cNvPr id="27" name="texte-250"/>
          <p:cNvSpPr txBox="1"/>
          <p:nvPr/>
        </p:nvSpPr>
        <p:spPr>
          <a:xfrm>
            <a:off x="6373368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les tours et le chrono</a:t>
            </a:r>
            <a:endParaRPr lang="en-US" sz="1400" dirty="0"/>
          </a:p>
        </p:txBody>
      </p:sp>
      <p:sp>
        <p:nvSpPr>
          <p:cNvPr id="28" name="cadre-251"/>
          <p:cNvSpPr/>
          <p:nvPr/>
        </p:nvSpPr>
        <p:spPr>
          <a:xfrm>
            <a:off x="8942832" y="4389120"/>
            <a:ext cx="26060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9" name="texte-252"/>
          <p:cNvSpPr txBox="1"/>
          <p:nvPr/>
        </p:nvSpPr>
        <p:spPr>
          <a:xfrm>
            <a:off x="9171432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Menu</a:t>
            </a:r>
            <a:endParaRPr lang="en-US" sz="1700" dirty="0"/>
          </a:p>
        </p:txBody>
      </p:sp>
      <p:sp>
        <p:nvSpPr>
          <p:cNvPr id="30" name="texte-253"/>
          <p:cNvSpPr txBox="1"/>
          <p:nvPr/>
        </p:nvSpPr>
        <p:spPr>
          <a:xfrm>
            <a:off x="9171432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les choix du joueur</a:t>
            </a:r>
            <a:endParaRPr lang="en-US" sz="1400" dirty="0"/>
          </a:p>
        </p:txBody>
      </p:sp>
      <p:sp>
        <p:nvSpPr>
          <p:cNvPr id="31" name="texte-254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Pas de framework ni d'installation : on ouvre 5-index.html dans le navigateur.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Ce que j'ai vu et compris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77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En phrases qu'on peut vérifier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Des phrases qu'on peut vérifier</a:t>
            </a:r>
            <a:endParaRPr lang="en-US" sz="3600" dirty="0"/>
          </a:p>
        </p:txBody>
      </p:sp>
      <p:sp>
        <p:nvSpPr>
          <p:cNvPr id="3" name="cadre-255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4" name="rond-256"/>
          <p:cNvSpPr/>
          <p:nvPr/>
        </p:nvSpPr>
        <p:spPr>
          <a:xfrm>
            <a:off x="822960" y="1682496"/>
            <a:ext cx="475488" cy="47548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e-2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237744" cy="237744"/>
          </a:xfrm>
          <a:prstGeom prst="rect">
            <a:avLst/>
          </a:prstGeom>
        </p:spPr>
      </p:pic>
      <p:sp>
        <p:nvSpPr>
          <p:cNvPr id="6" name="texte-258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estUnePaireAvec() est dans la classe Carte, pas dans la page.</a:t>
            </a:r>
            <a:endParaRPr lang="en-US" sz="1900" dirty="0"/>
          </a:p>
        </p:txBody>
      </p:sp>
      <p:sp>
        <p:nvSpPr>
          <p:cNvPr id="7" name="cadre-259"/>
          <p:cNvSpPr/>
          <p:nvPr/>
        </p:nvSpPr>
        <p:spPr>
          <a:xfrm>
            <a:off x="548640" y="256032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8" name="rond-260"/>
          <p:cNvSpPr/>
          <p:nvPr/>
        </p:nvSpPr>
        <p:spPr>
          <a:xfrm>
            <a:off x="822960" y="27797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cone-2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898648"/>
            <a:ext cx="237744" cy="237744"/>
          </a:xfrm>
          <a:prstGeom prst="rect">
            <a:avLst/>
          </a:prstGeom>
        </p:spPr>
      </p:pic>
      <p:sp>
        <p:nvSpPr>
          <p:cNvPr id="10" name="texte-262"/>
          <p:cNvSpPr txBox="1"/>
          <p:nvPr/>
        </p:nvSpPr>
        <p:spPr>
          <a:xfrm>
            <a:off x="1554480" y="2560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Les 16 cartes de la grille viennent de 16 new Carte.</a:t>
            </a:r>
            <a:endParaRPr lang="en-US" sz="1900" dirty="0"/>
          </a:p>
        </p:txBody>
      </p:sp>
      <p:sp>
        <p:nvSpPr>
          <p:cNvPr id="11" name="cadre-263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2" name="rond-264"/>
          <p:cNvSpPr/>
          <p:nvPr/>
        </p:nvSpPr>
        <p:spPr>
          <a:xfrm>
            <a:off x="822960" y="3877056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cone-26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3995928"/>
            <a:ext cx="237744" cy="237744"/>
          </a:xfrm>
          <a:prstGeom prst="rect">
            <a:avLst/>
          </a:prstGeom>
        </p:spPr>
      </p:pic>
      <p:sp>
        <p:nvSpPr>
          <p:cNvPr id="14" name="texte-266"/>
          <p:cNvSpPr txBox="1"/>
          <p:nvPr/>
        </p:nvSpPr>
        <p:spPr>
          <a:xfrm>
            <a:off x="1554480" y="36576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Chaque joueur est un objet Joueur, avec ses propres coeurs.</a:t>
            </a:r>
            <a:endParaRPr lang="en-US" sz="1900" dirty="0"/>
          </a:p>
        </p:txBody>
      </p:sp>
      <p:sp>
        <p:nvSpPr>
          <p:cNvPr id="15" name="cadre-267"/>
          <p:cNvSpPr/>
          <p:nvPr/>
        </p:nvSpPr>
        <p:spPr>
          <a:xfrm>
            <a:off x="548640" y="4754880"/>
            <a:ext cx="11064240" cy="9144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</p:sp>
      <p:sp>
        <p:nvSpPr>
          <p:cNvPr id="16" name="rond-268"/>
          <p:cNvSpPr/>
          <p:nvPr/>
        </p:nvSpPr>
        <p:spPr>
          <a:xfrm>
            <a:off x="822960" y="4974336"/>
            <a:ext cx="475488" cy="47548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7" name="icone-26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093208"/>
            <a:ext cx="237744" cy="237744"/>
          </a:xfrm>
          <a:prstGeom prst="rect">
            <a:avLst/>
          </a:prstGeom>
        </p:spPr>
      </p:pic>
      <p:sp>
        <p:nvSpPr>
          <p:cNvPr id="18" name="texte-270"/>
          <p:cNvSpPr txBox="1"/>
          <p:nvPr/>
        </p:nvSpPr>
        <p:spPr>
          <a:xfrm>
            <a:off x="1554480" y="4754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Je peux dire ce que estElimine() décide, sans lire le code.</a:t>
            </a:r>
            <a:endParaRPr lang="en-US" sz="1900" dirty="0"/>
          </a:p>
        </p:txBody>
      </p:sp>
      <p:sp>
        <p:nvSpPr>
          <p:cNvPr id="19" name="texte-27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Le cours dit : pas « j'ai fait de la POO », mais une phrase qu'on peut observer dans le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Les notions utilisées</a:t>
            </a:r>
            <a:endParaRPr lang="en-US" sz="3600" dirty="0"/>
          </a:p>
        </p:txBody>
      </p:sp>
      <p:sp>
        <p:nvSpPr>
          <p:cNvPr id="3" name="cadre-272"/>
          <p:cNvSpPr/>
          <p:nvPr/>
        </p:nvSpPr>
        <p:spPr>
          <a:xfrm>
            <a:off x="548640" y="146304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ond-27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e-2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265176" cy="265176"/>
          </a:xfrm>
          <a:prstGeom prst="rect">
            <a:avLst/>
          </a:prstGeom>
        </p:spPr>
      </p:pic>
      <p:sp>
        <p:nvSpPr>
          <p:cNvPr id="6" name="texte-275"/>
          <p:cNvSpPr txBox="1"/>
          <p:nvPr/>
        </p:nvSpPr>
        <p:spPr>
          <a:xfrm>
            <a:off x="1463040" y="17190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Classes et objets</a:t>
            </a:r>
            <a:endParaRPr lang="en-US" sz="1900" dirty="0"/>
          </a:p>
        </p:txBody>
      </p:sp>
      <p:sp>
        <p:nvSpPr>
          <p:cNvPr id="7" name="texte-276"/>
          <p:cNvSpPr txBox="1"/>
          <p:nvPr/>
        </p:nvSpPr>
        <p:spPr>
          <a:xfrm>
            <a:off x="1463040" y="2121408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class, constructor, new, this, méthodes qui répondent true ou false</a:t>
            </a:r>
            <a:endParaRPr lang="en-US" sz="1600" dirty="0"/>
          </a:p>
        </p:txBody>
      </p:sp>
      <p:sp>
        <p:nvSpPr>
          <p:cNvPr id="8" name="cadre-277"/>
          <p:cNvSpPr/>
          <p:nvPr/>
        </p:nvSpPr>
        <p:spPr>
          <a:xfrm>
            <a:off x="6217920" y="146304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rond-278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e-2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1856232"/>
            <a:ext cx="265176" cy="265176"/>
          </a:xfrm>
          <a:prstGeom prst="rect">
            <a:avLst/>
          </a:prstGeom>
        </p:spPr>
      </p:pic>
      <p:sp>
        <p:nvSpPr>
          <p:cNvPr id="11" name="texte-280"/>
          <p:cNvSpPr txBox="1"/>
          <p:nvPr/>
        </p:nvSpPr>
        <p:spPr>
          <a:xfrm>
            <a:off x="7132320" y="17190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La page (DOM)</a:t>
            </a:r>
            <a:endParaRPr lang="en-US" sz="1900" dirty="0"/>
          </a:p>
        </p:txBody>
      </p:sp>
      <p:sp>
        <p:nvSpPr>
          <p:cNvPr id="12" name="texte-281"/>
          <p:cNvSpPr txBox="1"/>
          <p:nvPr/>
        </p:nvSpPr>
        <p:spPr>
          <a:xfrm>
            <a:off x="7132320" y="2121408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getElementById, createElement, appendChild, addEventListener</a:t>
            </a:r>
            <a:endParaRPr lang="en-US" sz="1600" dirty="0"/>
          </a:p>
        </p:txBody>
      </p:sp>
      <p:sp>
        <p:nvSpPr>
          <p:cNvPr id="13" name="cadre-282"/>
          <p:cNvSpPr/>
          <p:nvPr/>
        </p:nvSpPr>
        <p:spPr>
          <a:xfrm>
            <a:off x="548640" y="36576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ond-283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e-28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50792"/>
            <a:ext cx="265176" cy="265176"/>
          </a:xfrm>
          <a:prstGeom prst="rect">
            <a:avLst/>
          </a:prstGeom>
        </p:spPr>
      </p:pic>
      <p:sp>
        <p:nvSpPr>
          <p:cNvPr id="16" name="texte-285"/>
          <p:cNvSpPr txBox="1"/>
          <p:nvPr/>
        </p:nvSpPr>
        <p:spPr>
          <a:xfrm>
            <a:off x="1463040" y="39136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Le temps</a:t>
            </a:r>
            <a:endParaRPr lang="en-US" sz="1900" dirty="0"/>
          </a:p>
        </p:txBody>
      </p:sp>
      <p:sp>
        <p:nvSpPr>
          <p:cNvPr id="17" name="texte-286"/>
          <p:cNvSpPr txBox="1"/>
          <p:nvPr/>
        </p:nvSpPr>
        <p:spPr>
          <a:xfrm>
            <a:off x="1463040" y="4315968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setTimeout pour attendre, setInterval pour le chrono, clearInterval pour la pause</a:t>
            </a:r>
            <a:endParaRPr lang="en-US" sz="1600" dirty="0"/>
          </a:p>
        </p:txBody>
      </p:sp>
      <p:sp>
        <p:nvSpPr>
          <p:cNvPr id="18" name="cadre-287"/>
          <p:cNvSpPr/>
          <p:nvPr/>
        </p:nvSpPr>
        <p:spPr>
          <a:xfrm>
            <a:off x="6217920" y="36576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rond-288"/>
          <p:cNvSpPr/>
          <p:nvPr/>
        </p:nvSpPr>
        <p:spPr>
          <a:xfrm>
            <a:off x="6492240" y="39319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e-28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112" y="4050792"/>
            <a:ext cx="265176" cy="265176"/>
          </a:xfrm>
          <a:prstGeom prst="rect">
            <a:avLst/>
          </a:prstGeom>
        </p:spPr>
      </p:pic>
      <p:sp>
        <p:nvSpPr>
          <p:cNvPr id="21" name="texte-290"/>
          <p:cNvSpPr txBox="1"/>
          <p:nvPr/>
        </p:nvSpPr>
        <p:spPr>
          <a:xfrm>
            <a:off x="7132320" y="391363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Le CSS</a:t>
            </a:r>
            <a:endParaRPr lang="en-US" sz="1900" dirty="0"/>
          </a:p>
        </p:txBody>
      </p:sp>
      <p:sp>
        <p:nvSpPr>
          <p:cNvPr id="22" name="texte-291"/>
          <p:cNvSpPr txBox="1"/>
          <p:nvPr/>
        </p:nvSpPr>
        <p:spPr>
          <a:xfrm>
            <a:off x="7132320" y="4315968"/>
            <a:ext cx="4251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variables de couleur, flexbox et flex-wrap pour la grille, :hover</a:t>
            </a:r>
            <a:endParaRPr lang="en-US" sz="1600" dirty="0"/>
          </a:p>
        </p:txBody>
      </p:sp>
      <p:sp>
        <p:nvSpPr>
          <p:cNvPr id="23" name="texte-292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Chaque mot est expliqué en une phrase dans 3-LEXIQUE.md.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Ce qui a été le plus difficile</a:t>
            </a:r>
            <a:endParaRPr lang="en-US" sz="3600" dirty="0"/>
          </a:p>
        </p:txBody>
      </p:sp>
      <p:sp>
        <p:nvSpPr>
          <p:cNvPr id="3" name="cadre-293"/>
          <p:cNvSpPr/>
          <p:nvPr/>
        </p:nvSpPr>
        <p:spPr>
          <a:xfrm>
            <a:off x="548640" y="1417320"/>
            <a:ext cx="65836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rond-294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e-29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10512"/>
            <a:ext cx="265176" cy="265176"/>
          </a:xfrm>
          <a:prstGeom prst="rect">
            <a:avLst/>
          </a:prstGeom>
        </p:spPr>
      </p:pic>
      <p:sp>
        <p:nvSpPr>
          <p:cNvPr id="6" name="texte-296"/>
          <p:cNvSpPr txBox="1"/>
          <p:nvPr/>
        </p:nvSpPr>
        <p:spPr>
          <a:xfrm>
            <a:off x="1463040" y="16733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 pause</a:t>
            </a:r>
            <a:endParaRPr lang="en-US" sz="1800" dirty="0"/>
          </a:p>
        </p:txBody>
      </p:sp>
      <p:sp>
        <p:nvSpPr>
          <p:cNvPr id="7" name="texte-297"/>
          <p:cNvSpPr txBox="1"/>
          <p:nvPr/>
        </p:nvSpPr>
        <p:spPr>
          <a:xfrm>
            <a:off x="1463040" y="207568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Arrêter le chrono et le reprendre sans repartir de zéro.</a:t>
            </a:r>
            <a:endParaRPr lang="en-US" sz="1500" dirty="0"/>
          </a:p>
        </p:txBody>
      </p:sp>
      <p:sp>
        <p:nvSpPr>
          <p:cNvPr id="8" name="cadre-298"/>
          <p:cNvSpPr/>
          <p:nvPr/>
        </p:nvSpPr>
        <p:spPr>
          <a:xfrm>
            <a:off x="548640" y="3017520"/>
            <a:ext cx="65836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rond-299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e-30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410712"/>
            <a:ext cx="265176" cy="265176"/>
          </a:xfrm>
          <a:prstGeom prst="rect">
            <a:avLst/>
          </a:prstGeom>
        </p:spPr>
      </p:pic>
      <p:sp>
        <p:nvSpPr>
          <p:cNvPr id="11" name="texte-301"/>
          <p:cNvSpPr txBox="1"/>
          <p:nvPr/>
        </p:nvSpPr>
        <p:spPr>
          <a:xfrm>
            <a:off x="1463040" y="32735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Séparer les rôles</a:t>
            </a:r>
            <a:endParaRPr lang="en-US" sz="1800" dirty="0"/>
          </a:p>
        </p:txBody>
      </p:sp>
      <p:sp>
        <p:nvSpPr>
          <p:cNvPr id="12" name="texte-302"/>
          <p:cNvSpPr txBox="1"/>
          <p:nvPr/>
        </p:nvSpPr>
        <p:spPr>
          <a:xfrm>
            <a:off x="1463040" y="367588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La carte garde ses données ; la partie s'occupe de l'affichage.</a:t>
            </a:r>
            <a:endParaRPr lang="en-US" sz="1500" dirty="0"/>
          </a:p>
        </p:txBody>
      </p:sp>
      <p:sp>
        <p:nvSpPr>
          <p:cNvPr id="13" name="cadre-303"/>
          <p:cNvSpPr/>
          <p:nvPr/>
        </p:nvSpPr>
        <p:spPr>
          <a:xfrm>
            <a:off x="548640" y="4617720"/>
            <a:ext cx="65836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rond-304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e-30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5010912"/>
            <a:ext cx="265176" cy="265176"/>
          </a:xfrm>
          <a:prstGeom prst="rect">
            <a:avLst/>
          </a:prstGeom>
        </p:spPr>
      </p:pic>
      <p:sp>
        <p:nvSpPr>
          <p:cNvPr id="16" name="texte-306"/>
          <p:cNvSpPr txBox="1"/>
          <p:nvPr/>
        </p:nvSpPr>
        <p:spPr>
          <a:xfrm>
            <a:off x="1463040" y="487375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Rester dans le cours</a:t>
            </a:r>
            <a:endParaRPr lang="en-US" sz="1800" dirty="0"/>
          </a:p>
        </p:txBody>
      </p:sp>
      <p:sp>
        <p:nvSpPr>
          <p:cNvPr id="17" name="texte-307"/>
          <p:cNvSpPr txBox="1"/>
          <p:nvPr/>
        </p:nvSpPr>
        <p:spPr>
          <a:xfrm>
            <a:off x="1463040" y="5276088"/>
            <a:ext cx="544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Les langues et les dégradés ne sont pas dans les ateliers : je l'ai noté dans 2-MODIF.md.</a:t>
            </a:r>
            <a:endParaRPr lang="en-US" sz="1500" dirty="0"/>
          </a:p>
        </p:txBody>
      </p:sp>
      <p:sp>
        <p:nvSpPr>
          <p:cNvPr id="18" name="cadre-308"/>
          <p:cNvSpPr/>
          <p:nvPr/>
        </p:nvSpPr>
        <p:spPr>
          <a:xfrm>
            <a:off x="7434072" y="1993392"/>
            <a:ext cx="4242816" cy="3557016"/>
          </a:xfrm>
          <a:prstGeom prst="roundRect">
            <a:avLst>
              <a:gd name="adj" fmla="val 3085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capture-309" descr="Livre rouvert pendant la pau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057400"/>
            <a:ext cx="4114800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!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 questions ? Le jeu s'ouvre directement dans le navigateur.</a:t>
            </a:r>
            <a:endParaRPr lang="en-US" sz="1800" dirty="0"/>
          </a:p>
        </p:txBody>
      </p:sp>
      <p:sp>
        <p:nvSpPr>
          <p:cNvPr id="4" name="cadre-310"/>
          <p:cNvSpPr/>
          <p:nvPr/>
        </p:nvSpPr>
        <p:spPr>
          <a:xfrm>
            <a:off x="6245352" y="2176272"/>
            <a:ext cx="5477256" cy="2505456"/>
          </a:xfrm>
          <a:prstGeom prst="roundRect">
            <a:avLst>
              <a:gd name="adj" fmla="val 438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apture-311" descr="Plateau du thème Anim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240280"/>
            <a:ext cx="53492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mory Mediamatique">
  <a:themeElements>
    <a:clrScheme name="Memory Mediamatique">
      <a:dk1>
        <a:srgbClr val="0B1620"/>
      </a:dk1>
      <a:lt1>
        <a:srgbClr val="FFFFFF"/>
      </a:lt1>
      <a:dk2>
        <a:srgbClr val="12283A"/>
      </a:dk2>
      <a:lt2>
        <a:srgbClr val="DFF6FF"/>
      </a:lt2>
      <a:accent1>
        <a:srgbClr val="56BFDC"/>
      </a:accent1>
      <a:accent2>
        <a:srgbClr val="3D8BFF"/>
      </a:accent2>
      <a:accent3>
        <a:srgbClr val="3DDC84"/>
      </a:accent3>
      <a:accent4>
        <a:srgbClr val="FF6BCB"/>
      </a:accent4>
      <a:accent5>
        <a:srgbClr val="FFE14D"/>
      </a:accent5>
      <a:accent6>
        <a:srgbClr val="8FB3C7"/>
      </a:accent6>
      <a:hlink>
        <a:srgbClr val="56BFDC"/>
      </a:hlink>
      <a:folHlink>
        <a:srgbClr val="8FB3C7"/>
      </a:folHlink>
    </a:clrScheme>
    <a:fontScheme name="Memory Mediamatiq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Memory Multijoueur</dc:title>
  <dc:subject>Présentation du jeu, du code et des apprentissages</dc:subject>
  <dc:creator>PptxGenJS</dc:creator>
  <cp:lastModifiedBy>PptxGenJS</cp:lastModifiedBy>
  <cp:revision>1</cp:revision>
  <dcterms:created xsi:type="dcterms:W3CDTF">2026-10-19T20:27:53Z</dcterms:created>
  <dcterms:modified xsi:type="dcterms:W3CDTF">2026-10-19T20:27:53Z</dcterms:modified>
</cp:coreProperties>
</file>